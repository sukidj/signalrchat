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77" r:id="rId6"/>
    <p:sldId id="259" r:id="rId7"/>
    <p:sldId id="278" r:id="rId8"/>
    <p:sldId id="267" r:id="rId9"/>
    <p:sldId id="268" r:id="rId10"/>
    <p:sldId id="269" r:id="rId11"/>
    <p:sldId id="280" r:id="rId12"/>
    <p:sldId id="270" r:id="rId13"/>
    <p:sldId id="271" r:id="rId14"/>
    <p:sldId id="272" r:id="rId15"/>
    <p:sldId id="273" r:id="rId16"/>
    <p:sldId id="279" r:id="rId17"/>
    <p:sldId id="274" r:id="rId18"/>
    <p:sldId id="260" r:id="rId19"/>
    <p:sldId id="275" r:id="rId20"/>
  </p:sldIdLst>
  <p:sldSz cx="18288000" cy="10287000"/>
  <p:notesSz cx="6858000" cy="9144000"/>
  <p:embeddedFontLst>
    <p:embeddedFont>
      <p:font typeface="Inter" panose="020B0604020202020204" charset="0"/>
      <p:regular r:id="rId21"/>
    </p:embeddedFont>
    <p:embeddedFont>
      <p:font typeface="Inter Medium" panose="020B0604020202020204" charset="0"/>
      <p:regular r:id="rId22"/>
    </p:embeddedFont>
    <p:embeddedFont>
      <p:font typeface="Red Hat Display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mb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mb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NSI-aplikacija.mp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028099" y="1539161"/>
            <a:ext cx="7719139" cy="77191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96960" y="1539161"/>
            <a:ext cx="7719139" cy="771913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0217" y="1013257"/>
            <a:ext cx="860074" cy="333578"/>
            <a:chOff x="0" y="0"/>
            <a:chExt cx="1146765" cy="44477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2781300" y="3070287"/>
            <a:ext cx="12725400" cy="1727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38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SignalR – Real-time web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komunikacija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003023" y="5760876"/>
            <a:ext cx="10170178" cy="1592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nl-NL" sz="4000" b="1" spc="1362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Tutorijal kroz ASP.NET Core + React aplikaciju</a:t>
            </a:r>
            <a:endParaRPr lang="en-US" sz="4000" b="1" spc="1362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481584" y="9061309"/>
            <a:ext cx="8834615" cy="61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sr-Latn-RS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Napredno softversko inženjerstvo</a:t>
            </a:r>
            <a:endParaRPr lang="en-US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sr-Latn-RS" sz="18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Đorđević Aleksandar </a:t>
            </a:r>
            <a:r>
              <a:rPr lang="sr-Latn-RS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2147</a:t>
            </a:r>
            <a:endParaRPr lang="en-US" sz="18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086600" y="1018914"/>
            <a:ext cx="4267200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ELEKTRONSKI FAKULTET U NI</a:t>
            </a:r>
            <a:r>
              <a:rPr lang="sr-Latn-R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ŠU</a:t>
            </a:r>
            <a:endParaRPr lang="en-US" sz="21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059C2DC-85B9-966E-ADE0-F577EC9DAF67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831" y="918010"/>
            <a:ext cx="558013" cy="55495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EC33FA-C08F-4635-9E4C-C35E77419C25}"/>
              </a:ext>
            </a:extLst>
          </p:cNvPr>
          <p:cNvSpPr/>
          <p:nvPr/>
        </p:nvSpPr>
        <p:spPr>
          <a:xfrm>
            <a:off x="874724" y="3217624"/>
            <a:ext cx="5981868" cy="2286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2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1133146" y="1866900"/>
            <a:ext cx="7782254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Kontekst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problema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802892" y="3327489"/>
            <a:ext cx="5334000" cy="1883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Klasičan HTTP model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komunikacije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:</a:t>
            </a: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Request → Response</a:t>
            </a: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Klijent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uvek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inicira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zahtev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Nema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stalne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konekcije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C47CC2-AC2F-9D91-AB48-AF46744689D8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2" y="843288"/>
            <a:ext cx="638714" cy="641333"/>
          </a:xfrm>
          <a:prstGeom prst="rect">
            <a:avLst/>
          </a:prstGeom>
          <a:noFill/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BB9E060-B9E1-ED85-9E6B-ADD90D08E7DE}"/>
              </a:ext>
            </a:extLst>
          </p:cNvPr>
          <p:cNvSpPr/>
          <p:nvPr/>
        </p:nvSpPr>
        <p:spPr>
          <a:xfrm>
            <a:off x="11431410" y="3217624"/>
            <a:ext cx="5981868" cy="2286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8AFCD0A-ECE6-D9F7-DF59-3EF3B58E5CDB}"/>
              </a:ext>
            </a:extLst>
          </p:cNvPr>
          <p:cNvSpPr txBox="1"/>
          <p:nvPr/>
        </p:nvSpPr>
        <p:spPr>
          <a:xfrm>
            <a:off x="1331005" y="3556090"/>
            <a:ext cx="8648868" cy="1422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Savremene web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aplikacije</a:t>
            </a:r>
            <a:endParaRPr lang="en-US" sz="2400" b="1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"/>
              <a:sym typeface="Inte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trenutno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ažuriranje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podataka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chat,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notifikacije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kolaboracija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5EB5DA-750B-A785-419E-29AC6648E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618" y="6019992"/>
            <a:ext cx="6814764" cy="27088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231319" y="7311487"/>
            <a:ext cx="1512662" cy="151266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31319" y="5143500"/>
            <a:ext cx="1512662" cy="151266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991926"/>
            <a:ext cx="811530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Ograničenja tog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modela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178210" y="7358269"/>
            <a:ext cx="6081090" cy="1419098"/>
            <a:chOff x="-1" y="-47625"/>
            <a:chExt cx="8108120" cy="189213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596556"/>
              <a:ext cx="8108119" cy="1247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42950" lvl="1" indent="-285750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stalnu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konekciju</a:t>
              </a:r>
              <a:endPara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742950" lvl="1" indent="-285750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dvosmernu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komunikaciju</a:t>
              </a:r>
              <a:endPara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742950" lvl="1" indent="-285750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trenutnu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isporuku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podataka</a:t>
              </a:r>
              <a:endPara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1" y="-47625"/>
              <a:ext cx="6250452" cy="470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Real-time </a:t>
              </a:r>
              <a:r>
                <a:rPr lang="en-US" sz="2400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aplikacije</a:t>
              </a:r>
              <a:r>
                <a:rPr lang="en-US" sz="2400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2400" b="1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zahtevaju</a:t>
              </a:r>
              <a:r>
                <a:rPr lang="en-US" sz="2400" b="1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: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78211" y="5107781"/>
            <a:ext cx="6081089" cy="1444938"/>
            <a:chOff x="0" y="-47625"/>
            <a:chExt cx="8108119" cy="192658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596556"/>
              <a:ext cx="8108119" cy="1282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42950" lvl="1" indent="-285750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Kašnjenje</a:t>
              </a:r>
              <a:r>
                <a:rPr lang="en-US" sz="2000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 u </a:t>
              </a: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isporuci</a:t>
              </a:r>
              <a:r>
                <a:rPr lang="en-US" sz="2000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podataka</a:t>
              </a:r>
              <a:endPara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endParaRPr>
            </a:p>
            <a:p>
              <a:pPr marL="742950" lvl="1" indent="-285750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Nepotrebni</a:t>
              </a:r>
              <a:r>
                <a:rPr lang="en-US" sz="2000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zahtevi</a:t>
              </a:r>
              <a:r>
                <a:rPr lang="en-US" sz="2000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 ka </a:t>
              </a: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serveru</a:t>
              </a:r>
              <a:endPara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endParaRPr>
            </a:p>
            <a:p>
              <a:pPr marL="742950" lvl="1" indent="-285750">
                <a:lnSpc>
                  <a:spcPts val="252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Loš</a:t>
              </a:r>
              <a:r>
                <a:rPr lang="en-US" sz="2000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korisnički</a:t>
              </a:r>
              <a:r>
                <a:rPr lang="en-US" sz="2000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Inter"/>
                  <a:sym typeface="Inter"/>
                </a:rPr>
                <a:t>doživljaj</a:t>
              </a:r>
              <a:endPara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250454" cy="4701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400" b="1" dirty="0" err="1">
                  <a:solidFill>
                    <a:srgbClr val="000000"/>
                  </a:solidFill>
                  <a:latin typeface="Inter Medium" panose="020B0604020202020204" charset="0"/>
                  <a:ea typeface="Inter Medium" panose="020B0604020202020204" charset="0"/>
                  <a:cs typeface="Inter Medium"/>
                  <a:sym typeface="Inter Medium"/>
                </a:rPr>
                <a:t>Problemi</a:t>
              </a:r>
              <a:r>
                <a:rPr lang="en-US" sz="2400" b="1" dirty="0">
                  <a:solidFill>
                    <a:srgbClr val="000000"/>
                  </a:solidFill>
                  <a:latin typeface="Inter Medium" panose="020B0604020202020204" charset="0"/>
                  <a:ea typeface="Inter Medium" panose="020B0604020202020204" charset="0"/>
                  <a:cs typeface="Inter Medium"/>
                  <a:sym typeface="Inter Medium"/>
                </a:rPr>
                <a:t> u real-time </a:t>
              </a:r>
              <a:r>
                <a:rPr lang="en-US" sz="2400" b="1" dirty="0" err="1">
                  <a:solidFill>
                    <a:srgbClr val="000000"/>
                  </a:solidFill>
                  <a:latin typeface="Inter Medium" panose="020B0604020202020204" charset="0"/>
                  <a:ea typeface="Inter Medium" panose="020B0604020202020204" charset="0"/>
                  <a:cs typeface="Inter Medium"/>
                  <a:sym typeface="Inter Medium"/>
                </a:rPr>
                <a:t>scenarijima</a:t>
              </a:r>
              <a:endPara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608145" y="5693138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8145" y="7861125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1C28AF-398F-A84E-310B-EDA09FE11318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3" y="843288"/>
            <a:ext cx="638714" cy="641333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804CB7C-9861-16C0-2999-E217F0CD4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914900"/>
            <a:ext cx="6828615" cy="40971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9F4E-3FE0-7274-7D06-72E6B653C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CD029545-8F68-1F38-73E5-B99DD3DB14D7}"/>
              </a:ext>
            </a:extLst>
          </p:cNvPr>
          <p:cNvSpPr txBox="1"/>
          <p:nvPr/>
        </p:nvSpPr>
        <p:spPr>
          <a:xfrm>
            <a:off x="1028700" y="1991926"/>
            <a:ext cx="8115300" cy="1949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pl-PL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Real-time komunikacija – šta to zapravo znači?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62D04E-FD83-B578-DE5F-62A1153E7F96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714A29B-53BF-FADF-BE34-D27DC7C687F4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3" y="843288"/>
            <a:ext cx="638714" cy="641333"/>
          </a:xfrm>
          <a:prstGeom prst="rect">
            <a:avLst/>
          </a:prstGeom>
          <a:noFill/>
        </p:spPr>
      </p:pic>
      <p:grpSp>
        <p:nvGrpSpPr>
          <p:cNvPr id="2" name="Group 15">
            <a:extLst>
              <a:ext uri="{FF2B5EF4-FFF2-40B4-BE49-F238E27FC236}">
                <a16:creationId xmlns:a16="http://schemas.microsoft.com/office/drawing/2014/main" id="{211B98EE-4BA2-513C-C835-C9D517DBB6F8}"/>
              </a:ext>
            </a:extLst>
          </p:cNvPr>
          <p:cNvGrpSpPr/>
          <p:nvPr/>
        </p:nvGrpSpPr>
        <p:grpSpPr>
          <a:xfrm>
            <a:off x="1882720" y="5453746"/>
            <a:ext cx="618941" cy="621970"/>
            <a:chOff x="0" y="0"/>
            <a:chExt cx="812800" cy="812800"/>
          </a:xfrm>
        </p:grpSpPr>
        <p:sp>
          <p:nvSpPr>
            <p:cNvPr id="3" name="Freeform 16">
              <a:extLst>
                <a:ext uri="{FF2B5EF4-FFF2-40B4-BE49-F238E27FC236}">
                  <a16:creationId xmlns:a16="http://schemas.microsoft.com/office/drawing/2014/main" id="{8E562EF6-31CD-9DFF-3E96-22FC361D5B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6D6844B1-DDF3-3111-0540-7FE60EE72CE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8">
            <a:extLst>
              <a:ext uri="{FF2B5EF4-FFF2-40B4-BE49-F238E27FC236}">
                <a16:creationId xmlns:a16="http://schemas.microsoft.com/office/drawing/2014/main" id="{AED2AE2A-EE61-6035-D36B-382B9BEEFAA2}"/>
              </a:ext>
            </a:extLst>
          </p:cNvPr>
          <p:cNvSpPr txBox="1"/>
          <p:nvPr/>
        </p:nvSpPr>
        <p:spPr>
          <a:xfrm>
            <a:off x="1985389" y="5578471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12BD2DBF-F854-E51D-0348-C737294E2307}"/>
              </a:ext>
            </a:extLst>
          </p:cNvPr>
          <p:cNvSpPr txBox="1"/>
          <p:nvPr/>
        </p:nvSpPr>
        <p:spPr>
          <a:xfrm>
            <a:off x="2304159" y="5133975"/>
            <a:ext cx="5398584" cy="2599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Sinhronizacija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stanja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u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realnom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vremenu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Trenutna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razmena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podataka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Server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inicira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komunikaciju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64DC315-0438-1DB4-34E7-6B5EA46344BF}"/>
              </a:ext>
            </a:extLst>
          </p:cNvPr>
          <p:cNvSpPr/>
          <p:nvPr/>
        </p:nvSpPr>
        <p:spPr>
          <a:xfrm>
            <a:off x="1600200" y="5162550"/>
            <a:ext cx="6248400" cy="29718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15">
            <a:extLst>
              <a:ext uri="{FF2B5EF4-FFF2-40B4-BE49-F238E27FC236}">
                <a16:creationId xmlns:a16="http://schemas.microsoft.com/office/drawing/2014/main" id="{00873E9B-88EA-8831-16D3-AB0663383566}"/>
              </a:ext>
            </a:extLst>
          </p:cNvPr>
          <p:cNvGrpSpPr/>
          <p:nvPr/>
        </p:nvGrpSpPr>
        <p:grpSpPr>
          <a:xfrm>
            <a:off x="1882720" y="6353175"/>
            <a:ext cx="618941" cy="621970"/>
            <a:chOff x="0" y="0"/>
            <a:chExt cx="812800" cy="812800"/>
          </a:xfrm>
        </p:grpSpPr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8497868E-F20F-CF4F-46AD-0EFFB20A2D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B6F50BFD-8113-24BD-20E9-D56EE12B742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0244A79A-1944-DC71-1320-CD4237D624C1}"/>
              </a:ext>
            </a:extLst>
          </p:cNvPr>
          <p:cNvSpPr txBox="1"/>
          <p:nvPr/>
        </p:nvSpPr>
        <p:spPr>
          <a:xfrm>
            <a:off x="1985389" y="6477900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42" name="Group 15">
            <a:extLst>
              <a:ext uri="{FF2B5EF4-FFF2-40B4-BE49-F238E27FC236}">
                <a16:creationId xmlns:a16="http://schemas.microsoft.com/office/drawing/2014/main" id="{372CF062-96C4-7840-7384-51C98C5E226E}"/>
              </a:ext>
            </a:extLst>
          </p:cNvPr>
          <p:cNvGrpSpPr/>
          <p:nvPr/>
        </p:nvGrpSpPr>
        <p:grpSpPr>
          <a:xfrm>
            <a:off x="1882720" y="7252604"/>
            <a:ext cx="618941" cy="621970"/>
            <a:chOff x="0" y="0"/>
            <a:chExt cx="812800" cy="812800"/>
          </a:xfrm>
        </p:grpSpPr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049A8530-D5D9-A7C2-AE47-2E073276F51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17">
              <a:extLst>
                <a:ext uri="{FF2B5EF4-FFF2-40B4-BE49-F238E27FC236}">
                  <a16:creationId xmlns:a16="http://schemas.microsoft.com/office/drawing/2014/main" id="{7AB588EB-87E1-F8F0-8122-8300787E9B8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5" name="TextBox 18">
            <a:extLst>
              <a:ext uri="{FF2B5EF4-FFF2-40B4-BE49-F238E27FC236}">
                <a16:creationId xmlns:a16="http://schemas.microsoft.com/office/drawing/2014/main" id="{147BE4CB-D284-F426-6621-389BD7964A2D}"/>
              </a:ext>
            </a:extLst>
          </p:cNvPr>
          <p:cNvSpPr txBox="1"/>
          <p:nvPr/>
        </p:nvSpPr>
        <p:spPr>
          <a:xfrm>
            <a:off x="1985389" y="7377329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4690713-F404-5DA7-3CD2-ED920D0A1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0" y="3619500"/>
            <a:ext cx="3760659" cy="527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40508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1B4DA-5026-2C51-C3B6-84C0B5FFC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DF78E11-1AED-1E32-04C0-B6F14A027946}"/>
              </a:ext>
            </a:extLst>
          </p:cNvPr>
          <p:cNvSpPr/>
          <p:nvPr/>
        </p:nvSpPr>
        <p:spPr>
          <a:xfrm>
            <a:off x="1600200" y="4533900"/>
            <a:ext cx="6248400" cy="360045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A18EF48-8A61-B85D-52D7-90270C43F60C}"/>
              </a:ext>
            </a:extLst>
          </p:cNvPr>
          <p:cNvSpPr txBox="1"/>
          <p:nvPr/>
        </p:nvSpPr>
        <p:spPr>
          <a:xfrm>
            <a:off x="1028700" y="1991926"/>
            <a:ext cx="81153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sr-Latn-R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Razvoj rešenja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3AFA256-70A0-D3F7-CF0E-63BFF012EADE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CA98382-1D79-FC6C-412E-50A5FA947AEA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3" y="843288"/>
            <a:ext cx="638714" cy="641333"/>
          </a:xfrm>
          <a:prstGeom prst="rect">
            <a:avLst/>
          </a:prstGeom>
          <a:noFill/>
        </p:spPr>
      </p:pic>
      <p:grpSp>
        <p:nvGrpSpPr>
          <p:cNvPr id="2" name="Group 15">
            <a:extLst>
              <a:ext uri="{FF2B5EF4-FFF2-40B4-BE49-F238E27FC236}">
                <a16:creationId xmlns:a16="http://schemas.microsoft.com/office/drawing/2014/main" id="{11C07D87-719D-5BCE-3828-F9B6045E23A8}"/>
              </a:ext>
            </a:extLst>
          </p:cNvPr>
          <p:cNvGrpSpPr/>
          <p:nvPr/>
        </p:nvGrpSpPr>
        <p:grpSpPr>
          <a:xfrm>
            <a:off x="1882720" y="5453746"/>
            <a:ext cx="618941" cy="621970"/>
            <a:chOff x="0" y="0"/>
            <a:chExt cx="812800" cy="812800"/>
          </a:xfrm>
        </p:grpSpPr>
        <p:sp>
          <p:nvSpPr>
            <p:cNvPr id="3" name="Freeform 16">
              <a:extLst>
                <a:ext uri="{FF2B5EF4-FFF2-40B4-BE49-F238E27FC236}">
                  <a16:creationId xmlns:a16="http://schemas.microsoft.com/office/drawing/2014/main" id="{20616C97-CFA8-0344-DAA1-C1CC07D971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846DCCCA-53BD-F533-C330-E70D7BB26F1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8">
            <a:extLst>
              <a:ext uri="{FF2B5EF4-FFF2-40B4-BE49-F238E27FC236}">
                <a16:creationId xmlns:a16="http://schemas.microsoft.com/office/drawing/2014/main" id="{8ECD6AED-9A6E-7264-EF5B-8D1D092E7073}"/>
              </a:ext>
            </a:extLst>
          </p:cNvPr>
          <p:cNvSpPr txBox="1"/>
          <p:nvPr/>
        </p:nvSpPr>
        <p:spPr>
          <a:xfrm>
            <a:off x="1985389" y="5578471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A3403158-CAC8-4D30-96E9-3542E54BF245}"/>
              </a:ext>
            </a:extLst>
          </p:cNvPr>
          <p:cNvSpPr txBox="1"/>
          <p:nvPr/>
        </p:nvSpPr>
        <p:spPr>
          <a:xfrm>
            <a:off x="2304159" y="5133975"/>
            <a:ext cx="5398584" cy="2599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Polling</a:t>
            </a: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Long polling</a:t>
            </a: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Problemi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skalabilnosti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38" name="Group 15">
            <a:extLst>
              <a:ext uri="{FF2B5EF4-FFF2-40B4-BE49-F238E27FC236}">
                <a16:creationId xmlns:a16="http://schemas.microsoft.com/office/drawing/2014/main" id="{26AFF0E5-EEFD-A77A-50DB-DB0AD4AC4960}"/>
              </a:ext>
            </a:extLst>
          </p:cNvPr>
          <p:cNvGrpSpPr/>
          <p:nvPr/>
        </p:nvGrpSpPr>
        <p:grpSpPr>
          <a:xfrm>
            <a:off x="1882720" y="6353175"/>
            <a:ext cx="618941" cy="621970"/>
            <a:chOff x="0" y="0"/>
            <a:chExt cx="812800" cy="812800"/>
          </a:xfrm>
        </p:grpSpPr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B0CF849C-0D0F-5A75-223E-D314B4C66C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E9F7B71B-6323-78A5-8520-2CCD0BDEC7A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99E4F04F-9034-AA80-0206-0C82639A6CF6}"/>
              </a:ext>
            </a:extLst>
          </p:cNvPr>
          <p:cNvSpPr txBox="1"/>
          <p:nvPr/>
        </p:nvSpPr>
        <p:spPr>
          <a:xfrm>
            <a:off x="1985389" y="6477900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42" name="Group 15">
            <a:extLst>
              <a:ext uri="{FF2B5EF4-FFF2-40B4-BE49-F238E27FC236}">
                <a16:creationId xmlns:a16="http://schemas.microsoft.com/office/drawing/2014/main" id="{C8EBA750-21F3-A8F4-FD20-8C34FD802BCB}"/>
              </a:ext>
            </a:extLst>
          </p:cNvPr>
          <p:cNvGrpSpPr/>
          <p:nvPr/>
        </p:nvGrpSpPr>
        <p:grpSpPr>
          <a:xfrm>
            <a:off x="1882720" y="7252604"/>
            <a:ext cx="618941" cy="621970"/>
            <a:chOff x="0" y="0"/>
            <a:chExt cx="812800" cy="812800"/>
          </a:xfrm>
        </p:grpSpPr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DBE0D8CA-F9E6-8B64-5C32-501BC7E70C8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17">
              <a:extLst>
                <a:ext uri="{FF2B5EF4-FFF2-40B4-BE49-F238E27FC236}">
                  <a16:creationId xmlns:a16="http://schemas.microsoft.com/office/drawing/2014/main" id="{34CB2FCA-85DE-CB53-3BF3-C0E5FE1C526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5" name="TextBox 18">
            <a:extLst>
              <a:ext uri="{FF2B5EF4-FFF2-40B4-BE49-F238E27FC236}">
                <a16:creationId xmlns:a16="http://schemas.microsoft.com/office/drawing/2014/main" id="{DD5C73B6-6521-16C2-E838-E41B1D5C7BA7}"/>
              </a:ext>
            </a:extLst>
          </p:cNvPr>
          <p:cNvSpPr txBox="1"/>
          <p:nvPr/>
        </p:nvSpPr>
        <p:spPr>
          <a:xfrm>
            <a:off x="1985389" y="7377329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8AA84B0B-8E2F-7C13-1E2A-F5D393C5621E}"/>
              </a:ext>
            </a:extLst>
          </p:cNvPr>
          <p:cNvSpPr txBox="1"/>
          <p:nvPr/>
        </p:nvSpPr>
        <p:spPr>
          <a:xfrm>
            <a:off x="1985389" y="4881420"/>
            <a:ext cx="4687840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Raniji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poku</a:t>
            </a:r>
            <a:r>
              <a:rPr lang="sr-Latn-R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šaji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:</a:t>
            </a: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FB985BED-337E-66E5-0441-5A9CE462382E}"/>
              </a:ext>
            </a:extLst>
          </p:cNvPr>
          <p:cNvGrpSpPr/>
          <p:nvPr/>
        </p:nvGrpSpPr>
        <p:grpSpPr>
          <a:xfrm>
            <a:off x="10439400" y="5453746"/>
            <a:ext cx="618941" cy="621970"/>
            <a:chOff x="0" y="0"/>
            <a:chExt cx="812800" cy="812800"/>
          </a:xfrm>
        </p:grpSpPr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3DD32A4E-51E8-EE86-7DF0-12D367CAE6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1EA2E747-0B76-1471-543F-45E6A95B491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TextBox 18">
            <a:extLst>
              <a:ext uri="{FF2B5EF4-FFF2-40B4-BE49-F238E27FC236}">
                <a16:creationId xmlns:a16="http://schemas.microsoft.com/office/drawing/2014/main" id="{6C90373C-AFD7-2389-E382-4CE3652D4C84}"/>
              </a:ext>
            </a:extLst>
          </p:cNvPr>
          <p:cNvSpPr txBox="1"/>
          <p:nvPr/>
        </p:nvSpPr>
        <p:spPr>
          <a:xfrm>
            <a:off x="10542069" y="5578471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DCBA5193-007A-3BFC-40C6-CCCE3BB243B1}"/>
              </a:ext>
            </a:extLst>
          </p:cNvPr>
          <p:cNvSpPr txBox="1"/>
          <p:nvPr/>
        </p:nvSpPr>
        <p:spPr>
          <a:xfrm>
            <a:off x="10860839" y="5133975"/>
            <a:ext cx="5398584" cy="2599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Stalna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konekcija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Dvosmerna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komunikacija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Manji overhead od HTTP-a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8300A5-1555-B045-E597-699A625BA5EC}"/>
              </a:ext>
            </a:extLst>
          </p:cNvPr>
          <p:cNvSpPr/>
          <p:nvPr/>
        </p:nvSpPr>
        <p:spPr>
          <a:xfrm>
            <a:off x="10156880" y="4533900"/>
            <a:ext cx="6378520" cy="360045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5">
            <a:extLst>
              <a:ext uri="{FF2B5EF4-FFF2-40B4-BE49-F238E27FC236}">
                <a16:creationId xmlns:a16="http://schemas.microsoft.com/office/drawing/2014/main" id="{F870BD3C-0D59-4510-139E-3C27C008BA24}"/>
              </a:ext>
            </a:extLst>
          </p:cNvPr>
          <p:cNvGrpSpPr/>
          <p:nvPr/>
        </p:nvGrpSpPr>
        <p:grpSpPr>
          <a:xfrm>
            <a:off x="10439400" y="6353175"/>
            <a:ext cx="618941" cy="621970"/>
            <a:chOff x="0" y="0"/>
            <a:chExt cx="812800" cy="812800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DA5A9A66-EC59-6C90-C130-BAECCC06D20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029E87F6-07E9-556F-3FF1-65E5C712C2C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182B9ADE-6BB2-D3F4-3080-04633BD13C34}"/>
              </a:ext>
            </a:extLst>
          </p:cNvPr>
          <p:cNvSpPr txBox="1"/>
          <p:nvPr/>
        </p:nvSpPr>
        <p:spPr>
          <a:xfrm>
            <a:off x="10542069" y="6477900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23" name="Group 15">
            <a:extLst>
              <a:ext uri="{FF2B5EF4-FFF2-40B4-BE49-F238E27FC236}">
                <a16:creationId xmlns:a16="http://schemas.microsoft.com/office/drawing/2014/main" id="{E2EF63F3-FE72-DB73-A576-273EB7E66790}"/>
              </a:ext>
            </a:extLst>
          </p:cNvPr>
          <p:cNvGrpSpPr/>
          <p:nvPr/>
        </p:nvGrpSpPr>
        <p:grpSpPr>
          <a:xfrm>
            <a:off x="10439400" y="7252604"/>
            <a:ext cx="618941" cy="621970"/>
            <a:chOff x="0" y="0"/>
            <a:chExt cx="812800" cy="812800"/>
          </a:xfrm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4DEB50DD-ABC7-26DA-C281-6812B91E681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830CC6BE-52F8-1167-791C-6E6397A034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6" name="TextBox 18">
            <a:extLst>
              <a:ext uri="{FF2B5EF4-FFF2-40B4-BE49-F238E27FC236}">
                <a16:creationId xmlns:a16="http://schemas.microsoft.com/office/drawing/2014/main" id="{7CC3FA5F-D339-5C70-59AB-CAD19C167057}"/>
              </a:ext>
            </a:extLst>
          </p:cNvPr>
          <p:cNvSpPr txBox="1"/>
          <p:nvPr/>
        </p:nvSpPr>
        <p:spPr>
          <a:xfrm>
            <a:off x="10542069" y="7377329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DB694ED5-3C76-4E98-DDBC-16976577F479}"/>
              </a:ext>
            </a:extLst>
          </p:cNvPr>
          <p:cNvSpPr txBox="1"/>
          <p:nvPr/>
        </p:nvSpPr>
        <p:spPr>
          <a:xfrm>
            <a:off x="10542069" y="4881420"/>
            <a:ext cx="5717354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WebSocket –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korak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ka real-time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rešenju</a:t>
            </a:r>
            <a:endParaRPr lang="en-US" sz="2400" b="1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39292975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991926"/>
            <a:ext cx="873407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SignalR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kao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rešenje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75592" y="8322945"/>
            <a:ext cx="5725297" cy="941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automatski </a:t>
            </a: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izbor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transporta</a:t>
            </a:r>
            <a:endParaRPr lang="en-US" sz="2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jednostavna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API </a:t>
            </a: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sintaksa</a:t>
            </a:r>
            <a:endParaRPr lang="en-US" sz="2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podrška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za </a:t>
            </a:r>
            <a:r>
              <a:rPr lang="en-US" sz="20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grupe</a:t>
            </a: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(chat rooms)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75592" y="7698013"/>
            <a:ext cx="396810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Karakteristike: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75592" y="6154958"/>
            <a:ext cx="5725297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.NET biblioteka za real-time komunikaciju</a:t>
            </a: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apstrakcija nad WebSocket-ima</a:t>
            </a: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server aktivno šalje poruke klijentima</a:t>
            </a:r>
            <a:endParaRPr lang="en-US" sz="2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75592" y="5530026"/>
            <a:ext cx="6138492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pl-PL" sz="24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SignalR – real-time komunikacija u .NET-u</a:t>
            </a:r>
            <a:endParaRPr lang="en-US" sz="24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28700" y="7745638"/>
            <a:ext cx="1512662" cy="15126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5577651"/>
            <a:ext cx="1512662" cy="15126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05526" y="6127289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5526" y="8295276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64875D-4479-68E3-FF68-B7D0F927FC54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3" y="843288"/>
            <a:ext cx="638714" cy="64133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B2BB89F-C4A9-2A94-A9CE-32E088B55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264" y="5143500"/>
            <a:ext cx="8017932" cy="45100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92BF5-E0B3-9032-3917-799B601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142A296E-0730-78A4-63AB-97842426B40C}"/>
              </a:ext>
            </a:extLst>
          </p:cNvPr>
          <p:cNvSpPr txBox="1"/>
          <p:nvPr/>
        </p:nvSpPr>
        <p:spPr>
          <a:xfrm>
            <a:off x="1028700" y="1991926"/>
            <a:ext cx="873407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Funkcionisanje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SignalR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-a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EBC49E3-9B29-82BD-6836-5040608180AF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3BA4E0B-F657-8FA3-395E-2A7305FB12AC}"/>
              </a:ext>
            </a:extLst>
          </p:cNvPr>
          <p:cNvSpPr txBox="1"/>
          <p:nvPr/>
        </p:nvSpPr>
        <p:spPr>
          <a:xfrm>
            <a:off x="11224957" y="4763062"/>
            <a:ext cx="5725297" cy="40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Apstrakcija nad WebSocket-ima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14A67D-9F05-DAFB-753B-618E9AEF05E8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3" y="843288"/>
            <a:ext cx="638714" cy="641333"/>
          </a:xfrm>
          <a:prstGeom prst="rect">
            <a:avLst/>
          </a:prstGeom>
          <a:noFill/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45E4B40-2322-FA09-D78E-6928A22D44A4}"/>
              </a:ext>
            </a:extLst>
          </p:cNvPr>
          <p:cNvSpPr txBox="1"/>
          <p:nvPr/>
        </p:nvSpPr>
        <p:spPr>
          <a:xfrm>
            <a:off x="11201400" y="6459986"/>
            <a:ext cx="6019800" cy="188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Automatski fallback: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WebSocket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Server-Sent Events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Long Polling</a:t>
            </a:r>
            <a:endParaRPr lang="en-US" sz="2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" name="Group 12">
            <a:extLst>
              <a:ext uri="{FF2B5EF4-FFF2-40B4-BE49-F238E27FC236}">
                <a16:creationId xmlns:a16="http://schemas.microsoft.com/office/drawing/2014/main" id="{089D3FC6-D3DD-224F-CB49-0B6B3FA7806F}"/>
              </a:ext>
            </a:extLst>
          </p:cNvPr>
          <p:cNvGrpSpPr/>
          <p:nvPr/>
        </p:nvGrpSpPr>
        <p:grpSpPr>
          <a:xfrm>
            <a:off x="9453724" y="6688586"/>
            <a:ext cx="1512662" cy="1512662"/>
            <a:chOff x="0" y="0"/>
            <a:chExt cx="812800" cy="812800"/>
          </a:xfrm>
        </p:grpSpPr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7D4B261F-09A0-7A5C-4855-38C8109F1F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14">
              <a:extLst>
                <a:ext uri="{FF2B5EF4-FFF2-40B4-BE49-F238E27FC236}">
                  <a16:creationId xmlns:a16="http://schemas.microsoft.com/office/drawing/2014/main" id="{9526BD6C-D74C-1B20-5E7B-DF0D632C941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0" name="Group 15">
            <a:extLst>
              <a:ext uri="{FF2B5EF4-FFF2-40B4-BE49-F238E27FC236}">
                <a16:creationId xmlns:a16="http://schemas.microsoft.com/office/drawing/2014/main" id="{C1B128BA-D254-69F3-CA2E-BEDDDB1CE5A9}"/>
              </a:ext>
            </a:extLst>
          </p:cNvPr>
          <p:cNvGrpSpPr/>
          <p:nvPr/>
        </p:nvGrpSpPr>
        <p:grpSpPr>
          <a:xfrm>
            <a:off x="9453724" y="4413317"/>
            <a:ext cx="1512662" cy="1512662"/>
            <a:chOff x="0" y="0"/>
            <a:chExt cx="812800" cy="812800"/>
          </a:xfrm>
        </p:grpSpPr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22ECF03C-2113-B557-C639-7CCD738BB7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A7F2894A-C419-2C72-57A7-71E7E5E813D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3" name="TextBox 18">
            <a:extLst>
              <a:ext uri="{FF2B5EF4-FFF2-40B4-BE49-F238E27FC236}">
                <a16:creationId xmlns:a16="http://schemas.microsoft.com/office/drawing/2014/main" id="{418A1A84-0687-AEFB-3176-8894CA025D5F}"/>
              </a:ext>
            </a:extLst>
          </p:cNvPr>
          <p:cNvSpPr txBox="1"/>
          <p:nvPr/>
        </p:nvSpPr>
        <p:spPr>
          <a:xfrm>
            <a:off x="9830550" y="4962955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E56DEBB9-C1BF-851E-E2FD-232057C3104F}"/>
              </a:ext>
            </a:extLst>
          </p:cNvPr>
          <p:cNvSpPr txBox="1"/>
          <p:nvPr/>
        </p:nvSpPr>
        <p:spPr>
          <a:xfrm>
            <a:off x="9830550" y="7238224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8F39FFF-063A-3A14-247E-4305FC258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923097"/>
            <a:ext cx="5549443" cy="50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51223"/>
      </p:ext>
    </p:extLst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06F3-FC89-0825-7173-DBA4C132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A7B0FDF-1BEC-4EB1-AFBD-8F29567BD2D5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F6D153A-70A9-7B90-B6C8-771F89910CF5}"/>
              </a:ext>
            </a:extLst>
          </p:cNvPr>
          <p:cNvSpPr txBox="1"/>
          <p:nvPr/>
        </p:nvSpPr>
        <p:spPr>
          <a:xfrm>
            <a:off x="955278" y="1904987"/>
            <a:ext cx="10442965" cy="9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Ideja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tutorijala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15ADE9A-72B3-3E2D-F3B0-4E8F2598D40F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2090"/>
            <a:ext cx="638714" cy="641333"/>
          </a:xfrm>
          <a:prstGeom prst="rect">
            <a:avLst/>
          </a:prstGeom>
          <a:noFill/>
        </p:spPr>
      </p:pic>
      <p:grpSp>
        <p:nvGrpSpPr>
          <p:cNvPr id="38" name="Group 15">
            <a:extLst>
              <a:ext uri="{FF2B5EF4-FFF2-40B4-BE49-F238E27FC236}">
                <a16:creationId xmlns:a16="http://schemas.microsoft.com/office/drawing/2014/main" id="{FD8BA2B1-F927-02D3-D4B1-5501DD8B57BC}"/>
              </a:ext>
            </a:extLst>
          </p:cNvPr>
          <p:cNvGrpSpPr/>
          <p:nvPr/>
        </p:nvGrpSpPr>
        <p:grpSpPr>
          <a:xfrm>
            <a:off x="2274825" y="4275299"/>
            <a:ext cx="824283" cy="824619"/>
            <a:chOff x="0" y="0"/>
            <a:chExt cx="812800" cy="812800"/>
          </a:xfrm>
        </p:grpSpPr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DB7C5C7A-95B3-5233-7CBC-6BB61BE117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ACEF5F77-8329-F066-05DB-18836D539E3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4C2587B4-9110-125E-5A63-80742B652400}"/>
              </a:ext>
            </a:extLst>
          </p:cNvPr>
          <p:cNvSpPr txBox="1"/>
          <p:nvPr/>
        </p:nvSpPr>
        <p:spPr>
          <a:xfrm>
            <a:off x="2480165" y="4515926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7E3E83F7-9151-C67A-C9CC-767D4D125FCA}"/>
              </a:ext>
            </a:extLst>
          </p:cNvPr>
          <p:cNvSpPr txBox="1"/>
          <p:nvPr/>
        </p:nvSpPr>
        <p:spPr>
          <a:xfrm>
            <a:off x="2575975" y="6901229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62" name="Group 15">
            <a:extLst>
              <a:ext uri="{FF2B5EF4-FFF2-40B4-BE49-F238E27FC236}">
                <a16:creationId xmlns:a16="http://schemas.microsoft.com/office/drawing/2014/main" id="{153EAC8C-875D-1C43-4117-22561BA88C13}"/>
              </a:ext>
            </a:extLst>
          </p:cNvPr>
          <p:cNvGrpSpPr/>
          <p:nvPr/>
        </p:nvGrpSpPr>
        <p:grpSpPr>
          <a:xfrm>
            <a:off x="2263698" y="5279334"/>
            <a:ext cx="824283" cy="824619"/>
            <a:chOff x="0" y="0"/>
            <a:chExt cx="812800" cy="812800"/>
          </a:xfrm>
        </p:grpSpPr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7A7A99AB-F346-46C6-BE99-4C92F0D59B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17">
              <a:extLst>
                <a:ext uri="{FF2B5EF4-FFF2-40B4-BE49-F238E27FC236}">
                  <a16:creationId xmlns:a16="http://schemas.microsoft.com/office/drawing/2014/main" id="{3AF0B386-AD18-462C-B2D0-5016FD6870A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5" name="TextBox 18">
            <a:extLst>
              <a:ext uri="{FF2B5EF4-FFF2-40B4-BE49-F238E27FC236}">
                <a16:creationId xmlns:a16="http://schemas.microsoft.com/office/drawing/2014/main" id="{37472DBA-9C41-BA80-AF56-D94841B2D72A}"/>
              </a:ext>
            </a:extLst>
          </p:cNvPr>
          <p:cNvSpPr txBox="1"/>
          <p:nvPr/>
        </p:nvSpPr>
        <p:spPr>
          <a:xfrm>
            <a:off x="2480163" y="5519961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66" name="Group 15">
            <a:extLst>
              <a:ext uri="{FF2B5EF4-FFF2-40B4-BE49-F238E27FC236}">
                <a16:creationId xmlns:a16="http://schemas.microsoft.com/office/drawing/2014/main" id="{AACAF206-C6B7-42F3-0515-21674B13851F}"/>
              </a:ext>
            </a:extLst>
          </p:cNvPr>
          <p:cNvGrpSpPr/>
          <p:nvPr/>
        </p:nvGrpSpPr>
        <p:grpSpPr>
          <a:xfrm>
            <a:off x="2263700" y="6309503"/>
            <a:ext cx="824283" cy="824619"/>
            <a:chOff x="0" y="0"/>
            <a:chExt cx="812800" cy="812800"/>
          </a:xfrm>
        </p:grpSpPr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9BE9188-0FEE-E23E-4803-DA1DB7F985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17">
              <a:extLst>
                <a:ext uri="{FF2B5EF4-FFF2-40B4-BE49-F238E27FC236}">
                  <a16:creationId xmlns:a16="http://schemas.microsoft.com/office/drawing/2014/main" id="{07279B7F-3419-611A-5E16-5C4F928FDE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9" name="TextBox 18">
            <a:extLst>
              <a:ext uri="{FF2B5EF4-FFF2-40B4-BE49-F238E27FC236}">
                <a16:creationId xmlns:a16="http://schemas.microsoft.com/office/drawing/2014/main" id="{C3DCADCE-616E-4D8C-0D00-0591FD4FF867}"/>
              </a:ext>
            </a:extLst>
          </p:cNvPr>
          <p:cNvSpPr txBox="1"/>
          <p:nvPr/>
        </p:nvSpPr>
        <p:spPr>
          <a:xfrm>
            <a:off x="2469040" y="6550130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71" name="TextBox 11">
            <a:extLst>
              <a:ext uri="{FF2B5EF4-FFF2-40B4-BE49-F238E27FC236}">
                <a16:creationId xmlns:a16="http://schemas.microsoft.com/office/drawing/2014/main" id="{6FF94C48-F401-8C01-C4AE-999B456CE529}"/>
              </a:ext>
            </a:extLst>
          </p:cNvPr>
          <p:cNvSpPr txBox="1"/>
          <p:nvPr/>
        </p:nvSpPr>
        <p:spPr>
          <a:xfrm>
            <a:off x="2263698" y="3742536"/>
            <a:ext cx="6138492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Cilj</a:t>
            </a:r>
            <a:r>
              <a:rPr lang="en-US" sz="24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projekta</a:t>
            </a:r>
            <a:r>
              <a:rPr lang="en-US" sz="24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</a:p>
        </p:txBody>
      </p:sp>
      <p:sp>
        <p:nvSpPr>
          <p:cNvPr id="72" name="TextBox 10">
            <a:extLst>
              <a:ext uri="{FF2B5EF4-FFF2-40B4-BE49-F238E27FC236}">
                <a16:creationId xmlns:a16="http://schemas.microsoft.com/office/drawing/2014/main" id="{398E9183-EB38-0838-A4FD-38046BEFF530}"/>
              </a:ext>
            </a:extLst>
          </p:cNvPr>
          <p:cNvSpPr txBox="1"/>
          <p:nvPr/>
        </p:nvSpPr>
        <p:spPr>
          <a:xfrm>
            <a:off x="2882641" y="4532866"/>
            <a:ext cx="5093791" cy="300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252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Napraviti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jednostavnu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chat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aplikaciju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73" name="TextBox 10">
            <a:extLst>
              <a:ext uri="{FF2B5EF4-FFF2-40B4-BE49-F238E27FC236}">
                <a16:creationId xmlns:a16="http://schemas.microsoft.com/office/drawing/2014/main" id="{857B2A82-880E-8DD6-C438-C67C85A454B0}"/>
              </a:ext>
            </a:extLst>
          </p:cNvPr>
          <p:cNvSpPr txBox="1"/>
          <p:nvPr/>
        </p:nvSpPr>
        <p:spPr>
          <a:xfrm>
            <a:off x="2893764" y="5513327"/>
            <a:ext cx="4407991" cy="30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252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Fokus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na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SignalR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74" name="TextBox 10">
            <a:extLst>
              <a:ext uri="{FF2B5EF4-FFF2-40B4-BE49-F238E27FC236}">
                <a16:creationId xmlns:a16="http://schemas.microsoft.com/office/drawing/2014/main" id="{8D4C596F-8DE8-9BE2-5822-3676D47862D5}"/>
              </a:ext>
            </a:extLst>
          </p:cNvPr>
          <p:cNvSpPr txBox="1"/>
          <p:nvPr/>
        </p:nvSpPr>
        <p:spPr>
          <a:xfrm>
            <a:off x="2893764" y="6569180"/>
            <a:ext cx="4407991" cy="30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252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Postepeno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objašnjenje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D3A0813-9D07-79BF-5755-3C922EEDFC9A}"/>
              </a:ext>
            </a:extLst>
          </p:cNvPr>
          <p:cNvSpPr/>
          <p:nvPr/>
        </p:nvSpPr>
        <p:spPr>
          <a:xfrm>
            <a:off x="1676400" y="3238500"/>
            <a:ext cx="6476999" cy="4381036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D4E5ECA1-3DD3-F6A5-5EAC-F416E991DEF8}"/>
              </a:ext>
            </a:extLst>
          </p:cNvPr>
          <p:cNvGrpSpPr/>
          <p:nvPr/>
        </p:nvGrpSpPr>
        <p:grpSpPr>
          <a:xfrm>
            <a:off x="10342885" y="5226120"/>
            <a:ext cx="824283" cy="824619"/>
            <a:chOff x="0" y="0"/>
            <a:chExt cx="812800" cy="812800"/>
          </a:xfrm>
        </p:grpSpPr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F2C754F-133E-6C5C-EFD7-A85B3B8B86C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17">
              <a:extLst>
                <a:ext uri="{FF2B5EF4-FFF2-40B4-BE49-F238E27FC236}">
                  <a16:creationId xmlns:a16="http://schemas.microsoft.com/office/drawing/2014/main" id="{3FC7C473-8B1A-FD34-F310-A4F7F8480D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0" name="TextBox 18">
            <a:extLst>
              <a:ext uri="{FF2B5EF4-FFF2-40B4-BE49-F238E27FC236}">
                <a16:creationId xmlns:a16="http://schemas.microsoft.com/office/drawing/2014/main" id="{9A83627D-B450-BDD6-8C5F-5FC5D6E04CBE}"/>
              </a:ext>
            </a:extLst>
          </p:cNvPr>
          <p:cNvSpPr txBox="1"/>
          <p:nvPr/>
        </p:nvSpPr>
        <p:spPr>
          <a:xfrm>
            <a:off x="10548225" y="5466747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00F0E6CE-2D58-94CF-9EEC-62D9820F201E}"/>
              </a:ext>
            </a:extLst>
          </p:cNvPr>
          <p:cNvSpPr txBox="1"/>
          <p:nvPr/>
        </p:nvSpPr>
        <p:spPr>
          <a:xfrm>
            <a:off x="10648758" y="7824755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82" name="Group 15">
            <a:extLst>
              <a:ext uri="{FF2B5EF4-FFF2-40B4-BE49-F238E27FC236}">
                <a16:creationId xmlns:a16="http://schemas.microsoft.com/office/drawing/2014/main" id="{46B67DC8-F4F9-3C12-8473-9168C174044F}"/>
              </a:ext>
            </a:extLst>
          </p:cNvPr>
          <p:cNvGrpSpPr/>
          <p:nvPr/>
        </p:nvGrpSpPr>
        <p:grpSpPr>
          <a:xfrm>
            <a:off x="10331758" y="6230155"/>
            <a:ext cx="824283" cy="824619"/>
            <a:chOff x="0" y="0"/>
            <a:chExt cx="812800" cy="812800"/>
          </a:xfrm>
        </p:grpSpPr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7B4FAEFA-3CBE-9CC4-8F11-8467AF636B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17">
              <a:extLst>
                <a:ext uri="{FF2B5EF4-FFF2-40B4-BE49-F238E27FC236}">
                  <a16:creationId xmlns:a16="http://schemas.microsoft.com/office/drawing/2014/main" id="{031B88E1-CB97-891A-0599-A2551FEFC16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5" name="TextBox 18">
            <a:extLst>
              <a:ext uri="{FF2B5EF4-FFF2-40B4-BE49-F238E27FC236}">
                <a16:creationId xmlns:a16="http://schemas.microsoft.com/office/drawing/2014/main" id="{28ECB7C4-2C0A-52FE-AB7B-87A094166424}"/>
              </a:ext>
            </a:extLst>
          </p:cNvPr>
          <p:cNvSpPr txBox="1"/>
          <p:nvPr/>
        </p:nvSpPr>
        <p:spPr>
          <a:xfrm>
            <a:off x="10548223" y="6470782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86" name="Group 15">
            <a:extLst>
              <a:ext uri="{FF2B5EF4-FFF2-40B4-BE49-F238E27FC236}">
                <a16:creationId xmlns:a16="http://schemas.microsoft.com/office/drawing/2014/main" id="{2CE58370-4D76-710E-F1D1-F681D980CCC7}"/>
              </a:ext>
            </a:extLst>
          </p:cNvPr>
          <p:cNvGrpSpPr/>
          <p:nvPr/>
        </p:nvGrpSpPr>
        <p:grpSpPr>
          <a:xfrm>
            <a:off x="10336483" y="7233029"/>
            <a:ext cx="824283" cy="824619"/>
            <a:chOff x="0" y="0"/>
            <a:chExt cx="812800" cy="812800"/>
          </a:xfrm>
        </p:grpSpPr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C4C92855-7277-8897-97CE-29423A228B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17">
              <a:extLst>
                <a:ext uri="{FF2B5EF4-FFF2-40B4-BE49-F238E27FC236}">
                  <a16:creationId xmlns:a16="http://schemas.microsoft.com/office/drawing/2014/main" id="{D4EF4986-B7AE-FC4B-65F5-250EE898ACE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9" name="TextBox 18">
            <a:extLst>
              <a:ext uri="{FF2B5EF4-FFF2-40B4-BE49-F238E27FC236}">
                <a16:creationId xmlns:a16="http://schemas.microsoft.com/office/drawing/2014/main" id="{2A9FE08B-DE7F-532D-4F69-A67A5D51FC6D}"/>
              </a:ext>
            </a:extLst>
          </p:cNvPr>
          <p:cNvSpPr txBox="1"/>
          <p:nvPr/>
        </p:nvSpPr>
        <p:spPr>
          <a:xfrm>
            <a:off x="10541823" y="7473656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B9326511-5AC4-8EA9-2EED-2277F196E840}"/>
              </a:ext>
            </a:extLst>
          </p:cNvPr>
          <p:cNvSpPr txBox="1"/>
          <p:nvPr/>
        </p:nvSpPr>
        <p:spPr>
          <a:xfrm>
            <a:off x="10331758" y="4693357"/>
            <a:ext cx="6138492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Funkcionalnosti</a:t>
            </a:r>
            <a:r>
              <a:rPr lang="en-US" sz="24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</a:p>
        </p:txBody>
      </p:sp>
      <p:sp>
        <p:nvSpPr>
          <p:cNvPr id="91" name="TextBox 10">
            <a:extLst>
              <a:ext uri="{FF2B5EF4-FFF2-40B4-BE49-F238E27FC236}">
                <a16:creationId xmlns:a16="http://schemas.microsoft.com/office/drawing/2014/main" id="{5D55E1BB-8F58-96E2-BDC7-184153C9B50C}"/>
              </a:ext>
            </a:extLst>
          </p:cNvPr>
          <p:cNvSpPr txBox="1"/>
          <p:nvPr/>
        </p:nvSpPr>
        <p:spPr>
          <a:xfrm>
            <a:off x="10950701" y="5483687"/>
            <a:ext cx="5093791" cy="300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252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Login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sa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korisničkim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imenom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09A2A7DF-44DC-8C80-1A07-F10359C94966}"/>
              </a:ext>
            </a:extLst>
          </p:cNvPr>
          <p:cNvSpPr txBox="1"/>
          <p:nvPr/>
        </p:nvSpPr>
        <p:spPr>
          <a:xfrm>
            <a:off x="10961824" y="6464148"/>
            <a:ext cx="4407991" cy="30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2520"/>
              </a:lnSpc>
              <a:spcBef>
                <a:spcPct val="0"/>
              </a:spcBef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Generalni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/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privatni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chat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93" name="TextBox 10">
            <a:extLst>
              <a:ext uri="{FF2B5EF4-FFF2-40B4-BE49-F238E27FC236}">
                <a16:creationId xmlns:a16="http://schemas.microsoft.com/office/drawing/2014/main" id="{B015BF8F-8E83-08B5-078C-7C01D055CFF2}"/>
              </a:ext>
            </a:extLst>
          </p:cNvPr>
          <p:cNvSpPr txBox="1"/>
          <p:nvPr/>
        </p:nvSpPr>
        <p:spPr>
          <a:xfrm>
            <a:off x="10966547" y="7492706"/>
            <a:ext cx="4407991" cy="30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2520"/>
              </a:lnSpc>
              <a:spcBef>
                <a:spcPct val="0"/>
              </a:spcBef>
            </a:pPr>
            <a:r>
              <a:rPr lang="sr-Latn-RS" sz="2000" dirty="0">
                <a:latin typeface="Inter" panose="020B0604020202020204" charset="0"/>
                <a:ea typeface="Inter" panose="020B0604020202020204" charset="0"/>
              </a:rPr>
              <a:t>Č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uvanje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poruka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B4E62277-3ABD-2DAA-7598-4C56910794EA}"/>
              </a:ext>
            </a:extLst>
          </p:cNvPr>
          <p:cNvSpPr/>
          <p:nvPr/>
        </p:nvSpPr>
        <p:spPr>
          <a:xfrm>
            <a:off x="9686185" y="4199099"/>
            <a:ext cx="6620615" cy="5364001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19">
            <a:extLst>
              <a:ext uri="{FF2B5EF4-FFF2-40B4-BE49-F238E27FC236}">
                <a16:creationId xmlns:a16="http://schemas.microsoft.com/office/drawing/2014/main" id="{EA80BCBD-4E64-EF70-889D-BB40BA5B4479}"/>
              </a:ext>
            </a:extLst>
          </p:cNvPr>
          <p:cNvSpPr txBox="1"/>
          <p:nvPr/>
        </p:nvSpPr>
        <p:spPr>
          <a:xfrm>
            <a:off x="10801158" y="7977155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98" name="Group 15">
            <a:extLst>
              <a:ext uri="{FF2B5EF4-FFF2-40B4-BE49-F238E27FC236}">
                <a16:creationId xmlns:a16="http://schemas.microsoft.com/office/drawing/2014/main" id="{7717E64C-6ABC-5365-5E3C-10D8C7DAECDE}"/>
              </a:ext>
            </a:extLst>
          </p:cNvPr>
          <p:cNvGrpSpPr/>
          <p:nvPr/>
        </p:nvGrpSpPr>
        <p:grpSpPr>
          <a:xfrm>
            <a:off x="10347608" y="8231456"/>
            <a:ext cx="824283" cy="824619"/>
            <a:chOff x="0" y="0"/>
            <a:chExt cx="812800" cy="812800"/>
          </a:xfrm>
        </p:grpSpPr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965F7337-F85D-1985-6FD9-24770AE941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Box 17">
              <a:extLst>
                <a:ext uri="{FF2B5EF4-FFF2-40B4-BE49-F238E27FC236}">
                  <a16:creationId xmlns:a16="http://schemas.microsoft.com/office/drawing/2014/main" id="{11EFC57C-109E-5246-5CD8-73545901888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1" name="TextBox 18">
            <a:extLst>
              <a:ext uri="{FF2B5EF4-FFF2-40B4-BE49-F238E27FC236}">
                <a16:creationId xmlns:a16="http://schemas.microsoft.com/office/drawing/2014/main" id="{3EFA40D1-4424-B218-9918-6EF650A55AC0}"/>
              </a:ext>
            </a:extLst>
          </p:cNvPr>
          <p:cNvSpPr txBox="1"/>
          <p:nvPr/>
        </p:nvSpPr>
        <p:spPr>
          <a:xfrm>
            <a:off x="10552948" y="8472083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id="102" name="TextBox 10">
            <a:extLst>
              <a:ext uri="{FF2B5EF4-FFF2-40B4-BE49-F238E27FC236}">
                <a16:creationId xmlns:a16="http://schemas.microsoft.com/office/drawing/2014/main" id="{1C5C6449-560A-0CEE-BFDA-D09B3FD16BC2}"/>
              </a:ext>
            </a:extLst>
          </p:cNvPr>
          <p:cNvSpPr txBox="1"/>
          <p:nvPr/>
        </p:nvSpPr>
        <p:spPr>
          <a:xfrm>
            <a:off x="10977672" y="8491133"/>
            <a:ext cx="4407991" cy="306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ts val="252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R</a:t>
            </a:r>
            <a:r>
              <a:rPr lang="sr-Latn-RS" sz="2000" dirty="0">
                <a:latin typeface="Inter" panose="020B0604020202020204" charset="0"/>
                <a:ea typeface="Inter" panose="020B0604020202020204" charset="0"/>
              </a:rPr>
              <a:t>eal-time razmena</a:t>
            </a:r>
          </a:p>
        </p:txBody>
      </p:sp>
    </p:spTree>
    <p:extLst>
      <p:ext uri="{BB962C8B-B14F-4D97-AF65-F5344CB8AC3E}">
        <p14:creationId xmlns:p14="http://schemas.microsoft.com/office/powerpoint/2010/main" val="1913504026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CAED5-1C32-A906-46D3-0067B5C1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3B92A77-2684-A9DE-309A-6B922C9BC199}"/>
              </a:ext>
            </a:extLst>
          </p:cNvPr>
          <p:cNvSpPr txBox="1"/>
          <p:nvPr/>
        </p:nvSpPr>
        <p:spPr>
          <a:xfrm>
            <a:off x="1028700" y="1991926"/>
            <a:ext cx="873407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Arhitektura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sistema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F3AD862-E58F-FA28-AAD5-31417151F33F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CD145E5-1B42-25A1-2F48-838B9AB08D4D}"/>
              </a:ext>
            </a:extLst>
          </p:cNvPr>
          <p:cNvSpPr txBox="1"/>
          <p:nvPr/>
        </p:nvSpPr>
        <p:spPr>
          <a:xfrm>
            <a:off x="2975592" y="8322945"/>
            <a:ext cx="5725297" cy="941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React + TypeScript</a:t>
            </a: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Material UI</a:t>
            </a: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SignalR JS client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C4EB512-F81E-0DAF-ECE5-FADF90B2F26F}"/>
              </a:ext>
            </a:extLst>
          </p:cNvPr>
          <p:cNvSpPr txBox="1"/>
          <p:nvPr/>
        </p:nvSpPr>
        <p:spPr>
          <a:xfrm>
            <a:off x="2975592" y="7698013"/>
            <a:ext cx="396810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Frontend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7A8C0E3-EDDE-616F-363A-12265431CA9A}"/>
              </a:ext>
            </a:extLst>
          </p:cNvPr>
          <p:cNvSpPr txBox="1"/>
          <p:nvPr/>
        </p:nvSpPr>
        <p:spPr>
          <a:xfrm>
            <a:off x="2975592" y="5404910"/>
            <a:ext cx="5725297" cy="126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ASP.NET Core Web API</a:t>
            </a: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SignalR</a:t>
            </a: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Entity Framework Core</a:t>
            </a:r>
          </a:p>
          <a:p>
            <a:pPr marL="742950" lvl="1" indent="-285750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nn-NO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SQLite</a:t>
            </a:r>
            <a:endParaRPr lang="en-US" sz="20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D59C6D2-526C-D3F2-A7D3-2FBE1C0F163C}"/>
              </a:ext>
            </a:extLst>
          </p:cNvPr>
          <p:cNvSpPr txBox="1"/>
          <p:nvPr/>
        </p:nvSpPr>
        <p:spPr>
          <a:xfrm>
            <a:off x="2975592" y="4779978"/>
            <a:ext cx="6138492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pl-PL" sz="24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Backend</a:t>
            </a:r>
            <a:endParaRPr lang="en-US" sz="2400" b="1" dirty="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3A1C2E9-482F-F7C3-7AB9-8FA3FF727D49}"/>
              </a:ext>
            </a:extLst>
          </p:cNvPr>
          <p:cNvGrpSpPr/>
          <p:nvPr/>
        </p:nvGrpSpPr>
        <p:grpSpPr>
          <a:xfrm>
            <a:off x="1028700" y="7745638"/>
            <a:ext cx="1512662" cy="1512662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F66835D-C8D3-3E16-1583-4B62B8A6740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1BFDE73-35EE-8A72-7D51-ACBF98BC269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A66A80A-E063-B58B-E1E7-9209DFD1BCD3}"/>
              </a:ext>
            </a:extLst>
          </p:cNvPr>
          <p:cNvGrpSpPr/>
          <p:nvPr/>
        </p:nvGrpSpPr>
        <p:grpSpPr>
          <a:xfrm>
            <a:off x="1028700" y="4925631"/>
            <a:ext cx="1512662" cy="1512662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FC04BB5-0F1F-91E8-0052-026F42A1FD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3D6501D-0BA1-0092-0256-CF449842244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82AE12D6-015E-A4E0-1548-16C0D342A576}"/>
              </a:ext>
            </a:extLst>
          </p:cNvPr>
          <p:cNvSpPr txBox="1"/>
          <p:nvPr/>
        </p:nvSpPr>
        <p:spPr>
          <a:xfrm>
            <a:off x="1405526" y="5475269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63492C5-231D-961E-DF5A-2BDEBBB9AD08}"/>
              </a:ext>
            </a:extLst>
          </p:cNvPr>
          <p:cNvSpPr txBox="1"/>
          <p:nvPr/>
        </p:nvSpPr>
        <p:spPr>
          <a:xfrm>
            <a:off x="1405526" y="8295276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06CD77-66AF-0480-C8B0-BAF54AA08A49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3" y="843288"/>
            <a:ext cx="638714" cy="641333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C317DB8-044B-2630-C924-D107F2A7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672" y="4531208"/>
            <a:ext cx="8041628" cy="47747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03301192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37BB7-AAAF-B0EB-787F-F69E5D79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E09F416-C40D-CFF6-7448-0CC0F60399B2}"/>
              </a:ext>
            </a:extLst>
          </p:cNvPr>
          <p:cNvGrpSpPr/>
          <p:nvPr/>
        </p:nvGrpSpPr>
        <p:grpSpPr>
          <a:xfrm>
            <a:off x="1039970" y="2015739"/>
            <a:ext cx="16531129" cy="1949123"/>
            <a:chOff x="0" y="-95249"/>
            <a:chExt cx="22041504" cy="2598831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F6C07C4C-7169-3DF5-C7E3-A4B04AD50D11}"/>
                </a:ext>
              </a:extLst>
            </p:cNvPr>
            <p:cNvSpPr txBox="1"/>
            <p:nvPr/>
          </p:nvSpPr>
          <p:spPr>
            <a:xfrm>
              <a:off x="0" y="-95249"/>
              <a:ext cx="8902215" cy="2598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5600" b="1" dirty="0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Kako </a:t>
              </a:r>
              <a:r>
                <a:rPr lang="en-US" sz="5600" b="1" dirty="0" err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izgleda</a:t>
              </a:r>
              <a:r>
                <a:rPr lang="en-US" sz="5600" b="1" dirty="0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 </a:t>
              </a:r>
              <a:r>
                <a:rPr lang="en-US" sz="5600" b="1" dirty="0" err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tok</a:t>
              </a:r>
              <a:r>
                <a:rPr lang="en-US" sz="5600" b="1" dirty="0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 </a:t>
              </a:r>
              <a:r>
                <a:rPr lang="en-US" sz="5600" b="1" dirty="0" err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poruke</a:t>
              </a:r>
              <a:r>
                <a:rPr lang="en-US" sz="5600" b="1" dirty="0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?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26A0471-2AEB-00F6-CFE4-2024809DE663}"/>
                </a:ext>
              </a:extLst>
            </p:cNvPr>
            <p:cNvSpPr txBox="1"/>
            <p:nvPr/>
          </p:nvSpPr>
          <p:spPr>
            <a:xfrm>
              <a:off x="11568614" y="114807"/>
              <a:ext cx="10472890" cy="2388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Klijent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šalje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poruku</a:t>
              </a:r>
              <a:endPara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42900" indent="-342900" algn="just">
                <a:lnSpc>
                  <a:spcPct val="15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SignalR Hub je prima</a:t>
              </a:r>
            </a:p>
            <a:p>
              <a:pPr marL="342900" indent="-342900" algn="just">
                <a:lnSpc>
                  <a:spcPct val="15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Poruka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se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čuva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u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bazi</a:t>
              </a:r>
              <a:endPara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342900" indent="-342900" algn="just">
                <a:lnSpc>
                  <a:spcPct val="15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Server je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šalje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svim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klijentima</a:t>
              </a:r>
              <a:r>
                <a:rPr lang="en-US" sz="2000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u </a:t>
              </a:r>
              <a:r>
                <a:rPr lang="en-US" sz="2000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sobi</a:t>
              </a:r>
              <a:endParaRPr lang="en-US" sz="2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5A054E0-C818-6A9D-EAC8-5BAEA83E9280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649FFF-F5C8-F05F-A205-F838CD27DE3D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13" y="843288"/>
            <a:ext cx="638714" cy="641333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79AAB2-D618-A470-8544-C8072C1C6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1" b="3617"/>
          <a:stretch>
            <a:fillRect/>
          </a:stretch>
        </p:blipFill>
        <p:spPr>
          <a:xfrm>
            <a:off x="9716431" y="4595664"/>
            <a:ext cx="7531599" cy="41148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296F0C-1323-9B92-529B-CBD8C67C43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 t="1196" r="931" b="845"/>
          <a:stretch>
            <a:fillRect/>
          </a:stretch>
        </p:blipFill>
        <p:spPr>
          <a:xfrm>
            <a:off x="1039970" y="4595665"/>
            <a:ext cx="7543800" cy="4114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5329778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D24D-9F9C-5050-1A7D-131EFD5F3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DB1546-5E1D-CBB5-FF08-6774A49FF0BC}"/>
              </a:ext>
            </a:extLst>
          </p:cNvPr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67DDA3B-C070-7F0B-B608-D747BA60B260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51ABE4D-0C8B-8EEE-B7E7-E5FCF4874F2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D8761100-AEE1-02A1-B879-CDAEA987A80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7718358-14FF-0FA8-9562-B24C611C5CBB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A96AE505-E25B-25BC-42F5-898112DA75D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6E864F89-E41F-3736-B891-649EF949957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14B45B9-F1BC-4AE0-06FF-67AB41545057}"/>
              </a:ext>
            </a:extLst>
          </p:cNvPr>
          <p:cNvSpPr txBox="1"/>
          <p:nvPr/>
        </p:nvSpPr>
        <p:spPr>
          <a:xfrm>
            <a:off x="1143000" y="1866900"/>
            <a:ext cx="7782254" cy="194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pl-PL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Uloga baze podataka u real-time sistemu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FF443A9-CAC3-09BE-526A-B8A3D49480DC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386DC0-2549-DFC7-6EEB-4AEA25B78023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2" y="843288"/>
            <a:ext cx="638714" cy="641333"/>
          </a:xfrm>
          <a:prstGeom prst="rect">
            <a:avLst/>
          </a:prstGeom>
          <a:noFill/>
        </p:spPr>
      </p:pic>
      <p:sp>
        <p:nvSpPr>
          <p:cNvPr id="17" name="TextBox 12">
            <a:extLst>
              <a:ext uri="{FF2B5EF4-FFF2-40B4-BE49-F238E27FC236}">
                <a16:creationId xmlns:a16="http://schemas.microsoft.com/office/drawing/2014/main" id="{EAFE4DA0-D610-312D-F6D2-808926C9A23D}"/>
              </a:ext>
            </a:extLst>
          </p:cNvPr>
          <p:cNvSpPr txBox="1"/>
          <p:nvPr/>
        </p:nvSpPr>
        <p:spPr>
          <a:xfrm>
            <a:off x="1599281" y="5024766"/>
            <a:ext cx="5222195" cy="234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Baza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podataka</a:t>
            </a:r>
            <a:endParaRPr lang="en-US" sz="2400" b="1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Real-time ≠ bez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baze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Trajnost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podataka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Učitavanje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istorije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poruka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Oporavak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nakon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reconnect-a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894A14C-4EAE-D9C1-7692-46BAB296417A}"/>
              </a:ext>
            </a:extLst>
          </p:cNvPr>
          <p:cNvSpPr/>
          <p:nvPr/>
        </p:nvSpPr>
        <p:spPr>
          <a:xfrm>
            <a:off x="1143000" y="4686300"/>
            <a:ext cx="5981868" cy="3145076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486B1B-C170-634D-F245-3EE234A18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145" y="3758814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61756"/>
      </p:ext>
    </p:extLst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9516-3CC7-9232-85DE-177D1A1B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D91223C-8044-354E-035A-3C19C8A85203}"/>
              </a:ext>
            </a:extLst>
          </p:cNvPr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44B418A-52E6-CE55-8C79-CA3CAC72D293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F89A2BC5-18AC-52F0-8310-B20764AEAC5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C814E5D7-0BF4-8A72-2519-A99AA60CA91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932C5B4-ADFB-1104-BC68-354F158A327F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02F6534E-5945-E42D-C328-6BA638A0155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09ADD19-5CCE-8D0C-ACC6-A10606750FC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B64AC9B3-4166-8B5E-D5B3-3FE10E6323B3}"/>
              </a:ext>
            </a:extLst>
          </p:cNvPr>
          <p:cNvSpPr txBox="1"/>
          <p:nvPr/>
        </p:nvSpPr>
        <p:spPr>
          <a:xfrm>
            <a:off x="1143000" y="1866900"/>
            <a:ext cx="7782254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Backend - SignalR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FA7EFE0-53FF-34D9-429F-47028F6D8984}"/>
              </a:ext>
            </a:extLst>
          </p:cNvPr>
          <p:cNvSpPr txBox="1"/>
          <p:nvPr/>
        </p:nvSpPr>
        <p:spPr>
          <a:xfrm>
            <a:off x="11436765" y="7082167"/>
            <a:ext cx="5822535" cy="1883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Koncept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grupa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:</a:t>
            </a: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svaka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soba = SignalR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grupa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korisnici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se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dodaju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grupe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poruke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se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šalju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samo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članovima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grupe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5E667D3-8DAC-B95C-9CC5-479A5961FC66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3581A4-6B04-2A84-52DC-A6C5C66BEF4C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2" y="843288"/>
            <a:ext cx="638714" cy="641333"/>
          </a:xfrm>
          <a:prstGeom prst="rect">
            <a:avLst/>
          </a:prstGeom>
          <a:noFill/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12EE60-FE26-F1B5-CE79-6F51D2C26563}"/>
              </a:ext>
            </a:extLst>
          </p:cNvPr>
          <p:cNvSpPr/>
          <p:nvPr/>
        </p:nvSpPr>
        <p:spPr>
          <a:xfrm>
            <a:off x="11141483" y="6743700"/>
            <a:ext cx="6117817" cy="2684045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0479A5A5-85F8-1DE9-5793-6AD8AFE21E73}"/>
              </a:ext>
            </a:extLst>
          </p:cNvPr>
          <p:cNvSpPr txBox="1"/>
          <p:nvPr/>
        </p:nvSpPr>
        <p:spPr>
          <a:xfrm>
            <a:off x="9752681" y="3475426"/>
            <a:ext cx="5222195" cy="234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SignalR Hub</a:t>
            </a: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centralna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tačka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komunikacije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prima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konekcije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klijenata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upravlja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chat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sobama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šalje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poruke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realnom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vremenu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E64693-E6AC-A311-8B63-A5165FE37EBB}"/>
              </a:ext>
            </a:extLst>
          </p:cNvPr>
          <p:cNvSpPr/>
          <p:nvPr/>
        </p:nvSpPr>
        <p:spPr>
          <a:xfrm>
            <a:off x="9296400" y="3136960"/>
            <a:ext cx="5981868" cy="3145076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81B1AC-305C-636A-3E72-9CDCF1950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32" y="4388252"/>
            <a:ext cx="7575136" cy="37875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66710177"/>
      </p:ext>
    </p:extLst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9402-CF01-09B4-4799-DBC5B60D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931A11-B124-D265-C8E8-5D3F3E406D23}"/>
              </a:ext>
            </a:extLst>
          </p:cNvPr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91E00E4-31DC-6F17-F93C-23D982BD99B1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6D06081D-172F-4500-89E8-43770A6DD53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4D65FCC2-6AF8-912B-7A7A-CF50CF9E2A1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49BAC795-0616-F45F-BB2F-8410390B6171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C627D5A-A882-D457-47E0-BB06799BC7E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9527098A-5A5F-A0BD-E6CD-9BBDE370A98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4E9DC5D-18EC-3040-0A7A-741B54FE8769}"/>
              </a:ext>
            </a:extLst>
          </p:cNvPr>
          <p:cNvSpPr txBox="1"/>
          <p:nvPr/>
        </p:nvSpPr>
        <p:spPr>
          <a:xfrm>
            <a:off x="1143000" y="1866900"/>
            <a:ext cx="7782254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SignalR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Hub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metode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790F60-2E3A-8E50-D3D5-38020FBC79C6}"/>
              </a:ext>
            </a:extLst>
          </p:cNvPr>
          <p:cNvSpPr txBox="1"/>
          <p:nvPr/>
        </p:nvSpPr>
        <p:spPr>
          <a:xfrm>
            <a:off x="4608004" y="5913067"/>
            <a:ext cx="5822535" cy="488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Slanje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poruke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 (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SendMessage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):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D34D667-FE99-5B0C-7F96-6EBF9F7B9B47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DAE3A7-18B3-89E3-F864-8AABB23AFF3A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2" y="843288"/>
            <a:ext cx="638714" cy="641333"/>
          </a:xfrm>
          <a:prstGeom prst="rect">
            <a:avLst/>
          </a:prstGeom>
          <a:noFill/>
        </p:spPr>
      </p:pic>
      <p:sp>
        <p:nvSpPr>
          <p:cNvPr id="17" name="TextBox 12">
            <a:extLst>
              <a:ext uri="{FF2B5EF4-FFF2-40B4-BE49-F238E27FC236}">
                <a16:creationId xmlns:a16="http://schemas.microsoft.com/office/drawing/2014/main" id="{AE0F0FF1-1C19-FBA8-2AFF-03E406EB7185}"/>
              </a:ext>
            </a:extLst>
          </p:cNvPr>
          <p:cNvSpPr txBox="1"/>
          <p:nvPr/>
        </p:nvSpPr>
        <p:spPr>
          <a:xfrm>
            <a:off x="762000" y="3224352"/>
            <a:ext cx="5222195" cy="489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Pridru</a:t>
            </a:r>
            <a:r>
              <a:rPr lang="sr-Latn-R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živanje chat sobi (JoinRoom):</a:t>
            </a:r>
            <a:endParaRPr lang="en-US" sz="2400" b="1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"/>
              <a:sym typeface="Inte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57EDD0-7FB8-B366-00EB-742CDC430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3916733"/>
            <a:ext cx="11955201" cy="19887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E69B08-2BBC-132E-55C4-4B8D3A4E8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08504" y="6819900"/>
            <a:ext cx="11645896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1379"/>
      </p:ext>
    </p:extLst>
  </p:cSld>
  <p:clrMapOvr>
    <a:masterClrMapping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671B-EE67-76FF-350C-740975D6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F06FCCF-8415-FD8C-F475-AAFE1511AEA6}"/>
              </a:ext>
            </a:extLst>
          </p:cNvPr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2769FE6-82FB-593C-B18D-87DFF5A22A9D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E9D5A616-01E1-BC50-C6ED-A876F442309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0340CBB2-CFEE-E224-693E-DCEEB30EC94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4492225E-C464-495A-1F0E-109103F3C19A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67934FC9-4E78-797E-C359-2B189396111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BBC2139E-D68A-FCA9-149F-92A022DC786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4D69F63-FDA7-0E81-E8B0-2EA1184C348C}"/>
              </a:ext>
            </a:extLst>
          </p:cNvPr>
          <p:cNvSpPr txBox="1"/>
          <p:nvPr/>
        </p:nvSpPr>
        <p:spPr>
          <a:xfrm>
            <a:off x="1143000" y="1866900"/>
            <a:ext cx="7782254" cy="194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Frontend –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SignalR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klijent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762A1E7-9C80-0068-8200-167380C55007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D85CFA-5992-BD3E-9A72-3DAE72971BA2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2" y="843288"/>
            <a:ext cx="638714" cy="641333"/>
          </a:xfrm>
          <a:prstGeom prst="rect">
            <a:avLst/>
          </a:prstGeom>
          <a:noFill/>
        </p:spPr>
      </p:pic>
      <p:sp>
        <p:nvSpPr>
          <p:cNvPr id="17" name="TextBox 12">
            <a:extLst>
              <a:ext uri="{FF2B5EF4-FFF2-40B4-BE49-F238E27FC236}">
                <a16:creationId xmlns:a16="http://schemas.microsoft.com/office/drawing/2014/main" id="{CC9AEBC6-A4D9-1755-7434-B7D37E537520}"/>
              </a:ext>
            </a:extLst>
          </p:cNvPr>
          <p:cNvSpPr txBox="1"/>
          <p:nvPr/>
        </p:nvSpPr>
        <p:spPr>
          <a:xfrm>
            <a:off x="1599281" y="5024766"/>
            <a:ext cx="5222195" cy="234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Frontend</a:t>
            </a: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uspostavlja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konekciju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poziva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Hub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metode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sluša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događaje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ne </a:t>
            </a:r>
            <a:r>
              <a:rPr lang="en-US" sz="200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koristi</a:t>
            </a:r>
            <a:r>
              <a:rPr lang="en-US" sz="200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polling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F4A97CF-8679-0FAA-A641-C37CF675AC12}"/>
              </a:ext>
            </a:extLst>
          </p:cNvPr>
          <p:cNvSpPr/>
          <p:nvPr/>
        </p:nvSpPr>
        <p:spPr>
          <a:xfrm>
            <a:off x="1143000" y="4686300"/>
            <a:ext cx="5981868" cy="3145076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D2B2B9-CB5B-FD69-4C8C-2A84F5D4B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916" y="4235836"/>
            <a:ext cx="8003084" cy="40460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1543727"/>
      </p:ext>
    </p:extLst>
  </p:cSld>
  <p:clrMapOvr>
    <a:masterClrMapping/>
  </p:clrMapOvr>
  <p:transition spd="slow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B863-A0AC-FA62-ACA5-8F6D2285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6EF030F-CE41-C1BC-E4AE-518051550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0999" y="3513240"/>
            <a:ext cx="9358199" cy="3326882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58FB99C4-3368-CF10-2B37-30D4FB93875F}"/>
              </a:ext>
            </a:extLst>
          </p:cNvPr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1F41569-7DBC-376E-C6C8-222385F19C3D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B509845E-69C5-4068-404F-950A3184009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EE113E66-3196-6C7A-DA66-EF2B7ED6026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24B5CD5-C91E-A0D3-618C-C7CA6EEFD764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E0A76E14-5140-CABE-5D00-9ACE762EB3F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EDC5BFA5-1421-7CBE-D286-6B292244A68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6A8B5FE-7BE4-A619-6F5C-343C1D26FC59}"/>
              </a:ext>
            </a:extLst>
          </p:cNvPr>
          <p:cNvSpPr txBox="1"/>
          <p:nvPr/>
        </p:nvSpPr>
        <p:spPr>
          <a:xfrm>
            <a:off x="1143000" y="1714500"/>
            <a:ext cx="7782254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SignalR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klijent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metode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8DA1B7A-CC43-C63B-C3B2-B21FBD494B53}"/>
              </a:ext>
            </a:extLst>
          </p:cNvPr>
          <p:cNvSpPr txBox="1"/>
          <p:nvPr/>
        </p:nvSpPr>
        <p:spPr>
          <a:xfrm>
            <a:off x="3505200" y="6595664"/>
            <a:ext cx="5822535" cy="488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Slanje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 i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prijem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poruke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:</a:t>
            </a:r>
            <a:endParaRPr lang="en-US" sz="20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1E5E1A4-9709-1CCE-2FAB-662B961A8391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A99554-B5C6-66BE-56C5-BF0C91138270}"/>
              </a:ext>
            </a:extLst>
          </p:cNvPr>
          <p:cNvPicPr>
            <a:picLocks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2" y="843288"/>
            <a:ext cx="638714" cy="641333"/>
          </a:xfrm>
          <a:prstGeom prst="rect">
            <a:avLst/>
          </a:prstGeom>
          <a:noFill/>
        </p:spPr>
      </p:pic>
      <p:sp>
        <p:nvSpPr>
          <p:cNvPr id="17" name="TextBox 12">
            <a:extLst>
              <a:ext uri="{FF2B5EF4-FFF2-40B4-BE49-F238E27FC236}">
                <a16:creationId xmlns:a16="http://schemas.microsoft.com/office/drawing/2014/main" id="{6CE04919-5FA9-53DE-287D-3250F73BB218}"/>
              </a:ext>
            </a:extLst>
          </p:cNvPr>
          <p:cNvSpPr txBox="1"/>
          <p:nvPr/>
        </p:nvSpPr>
        <p:spPr>
          <a:xfrm>
            <a:off x="381000" y="2916210"/>
            <a:ext cx="5222195" cy="489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Uspostavljanje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konekcije</a:t>
            </a:r>
            <a:r>
              <a:rPr lang="sr-Latn-R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"/>
                <a:sym typeface="Inter"/>
              </a:rPr>
              <a:t>:</a:t>
            </a:r>
            <a:endParaRPr lang="en-US" sz="2400" b="1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"/>
              <a:sym typeface="Inter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FE269B-AE84-D7B7-A1DE-CC75852238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52800" y="7200900"/>
            <a:ext cx="147283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49457"/>
      </p:ext>
    </p:extLst>
  </p:cSld>
  <p:clrMapOvr>
    <a:masterClrMapping/>
  </p:clrMapOvr>
  <p:transition spd="slow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C367-9E54-CB97-7B61-D6A4FA23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2388E3A-8C3F-7F35-6583-6180C296547B}"/>
              </a:ext>
            </a:extLst>
          </p:cNvPr>
          <p:cNvSpPr/>
          <p:nvPr/>
        </p:nvSpPr>
        <p:spPr>
          <a:xfrm>
            <a:off x="474096" y="4115700"/>
            <a:ext cx="5387348" cy="47244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FEA77F-104E-1D4D-6741-F24F4D170240}"/>
              </a:ext>
            </a:extLst>
          </p:cNvPr>
          <p:cNvSpPr txBox="1"/>
          <p:nvPr/>
        </p:nvSpPr>
        <p:spPr>
          <a:xfrm>
            <a:off x="1028700" y="1991926"/>
            <a:ext cx="811530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Alternativna</a:t>
            </a:r>
            <a:r>
              <a:rPr lang="sr-Latn-R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rešenja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522AC3-DB14-2FE5-AB14-3493ABBC286F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2433912-CDDA-04A6-8ABE-72BACE5365D0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3" y="843288"/>
            <a:ext cx="638714" cy="641333"/>
          </a:xfrm>
          <a:prstGeom prst="rect">
            <a:avLst/>
          </a:prstGeom>
          <a:noFill/>
        </p:spPr>
      </p:pic>
      <p:grpSp>
        <p:nvGrpSpPr>
          <p:cNvPr id="2" name="Group 15">
            <a:extLst>
              <a:ext uri="{FF2B5EF4-FFF2-40B4-BE49-F238E27FC236}">
                <a16:creationId xmlns:a16="http://schemas.microsoft.com/office/drawing/2014/main" id="{AFF1C720-A91A-1A12-920D-B66277BBAF1F}"/>
              </a:ext>
            </a:extLst>
          </p:cNvPr>
          <p:cNvGrpSpPr/>
          <p:nvPr/>
        </p:nvGrpSpPr>
        <p:grpSpPr>
          <a:xfrm>
            <a:off x="756616" y="5035546"/>
            <a:ext cx="618941" cy="621970"/>
            <a:chOff x="0" y="0"/>
            <a:chExt cx="812800" cy="812800"/>
          </a:xfrm>
        </p:grpSpPr>
        <p:sp>
          <p:nvSpPr>
            <p:cNvPr id="3" name="Freeform 16">
              <a:extLst>
                <a:ext uri="{FF2B5EF4-FFF2-40B4-BE49-F238E27FC236}">
                  <a16:creationId xmlns:a16="http://schemas.microsoft.com/office/drawing/2014/main" id="{E0DF3714-7637-422C-9297-8C91A877EED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DF49F6AD-1FAD-A7AA-1A67-80F2AAE4C2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TextBox 18">
            <a:extLst>
              <a:ext uri="{FF2B5EF4-FFF2-40B4-BE49-F238E27FC236}">
                <a16:creationId xmlns:a16="http://schemas.microsoft.com/office/drawing/2014/main" id="{E316DA23-293B-4A89-A0EE-8A3CCF289C2B}"/>
              </a:ext>
            </a:extLst>
          </p:cNvPr>
          <p:cNvSpPr txBox="1"/>
          <p:nvPr/>
        </p:nvSpPr>
        <p:spPr>
          <a:xfrm>
            <a:off x="859285" y="5160271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32798C7A-7B23-7880-4F75-0AC36BDC4636}"/>
              </a:ext>
            </a:extLst>
          </p:cNvPr>
          <p:cNvSpPr txBox="1"/>
          <p:nvPr/>
        </p:nvSpPr>
        <p:spPr>
          <a:xfrm>
            <a:off x="1178055" y="4715775"/>
            <a:ext cx="3615898" cy="3530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Čist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 WebSocket</a:t>
            </a: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Socket.IO</a:t>
            </a: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Firebase Realtime DB</a:t>
            </a: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MQTT</a:t>
            </a:r>
          </a:p>
        </p:txBody>
      </p:sp>
      <p:grpSp>
        <p:nvGrpSpPr>
          <p:cNvPr id="38" name="Group 15">
            <a:extLst>
              <a:ext uri="{FF2B5EF4-FFF2-40B4-BE49-F238E27FC236}">
                <a16:creationId xmlns:a16="http://schemas.microsoft.com/office/drawing/2014/main" id="{92ADC226-3E30-CA40-9E0E-042269CBDF95}"/>
              </a:ext>
            </a:extLst>
          </p:cNvPr>
          <p:cNvGrpSpPr/>
          <p:nvPr/>
        </p:nvGrpSpPr>
        <p:grpSpPr>
          <a:xfrm>
            <a:off x="756616" y="5934975"/>
            <a:ext cx="618941" cy="621970"/>
            <a:chOff x="0" y="0"/>
            <a:chExt cx="812800" cy="812800"/>
          </a:xfrm>
        </p:grpSpPr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2CD53124-1C6D-75E6-25BE-0E90C3D9A7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A0B9467E-66A1-0840-DC54-E3DFC1227D9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4B795267-5A8F-994A-0A36-E54240158D9A}"/>
              </a:ext>
            </a:extLst>
          </p:cNvPr>
          <p:cNvSpPr txBox="1"/>
          <p:nvPr/>
        </p:nvSpPr>
        <p:spPr>
          <a:xfrm>
            <a:off x="859285" y="6059700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42" name="Group 15">
            <a:extLst>
              <a:ext uri="{FF2B5EF4-FFF2-40B4-BE49-F238E27FC236}">
                <a16:creationId xmlns:a16="http://schemas.microsoft.com/office/drawing/2014/main" id="{89874896-0E8B-F199-F337-323D4DB36915}"/>
              </a:ext>
            </a:extLst>
          </p:cNvPr>
          <p:cNvGrpSpPr/>
          <p:nvPr/>
        </p:nvGrpSpPr>
        <p:grpSpPr>
          <a:xfrm>
            <a:off x="756616" y="6834404"/>
            <a:ext cx="618941" cy="621970"/>
            <a:chOff x="0" y="0"/>
            <a:chExt cx="812800" cy="812800"/>
          </a:xfrm>
        </p:grpSpPr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FFC212CE-45A7-A434-0FB6-8749717539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17">
              <a:extLst>
                <a:ext uri="{FF2B5EF4-FFF2-40B4-BE49-F238E27FC236}">
                  <a16:creationId xmlns:a16="http://schemas.microsoft.com/office/drawing/2014/main" id="{89B1997D-D4CF-42C0-518B-BD02843B286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5" name="TextBox 18">
            <a:extLst>
              <a:ext uri="{FF2B5EF4-FFF2-40B4-BE49-F238E27FC236}">
                <a16:creationId xmlns:a16="http://schemas.microsoft.com/office/drawing/2014/main" id="{5A630984-FBF7-C157-8FE4-B0A376C8621C}"/>
              </a:ext>
            </a:extLst>
          </p:cNvPr>
          <p:cNvSpPr txBox="1"/>
          <p:nvPr/>
        </p:nvSpPr>
        <p:spPr>
          <a:xfrm>
            <a:off x="859285" y="6959129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D355277D-68D8-E93E-C094-E118C7F1A1F6}"/>
              </a:ext>
            </a:extLst>
          </p:cNvPr>
          <p:cNvSpPr txBox="1"/>
          <p:nvPr/>
        </p:nvSpPr>
        <p:spPr>
          <a:xfrm>
            <a:off x="859285" y="4463220"/>
            <a:ext cx="3401268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Druge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tehnologije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:</a:t>
            </a: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4241315D-6910-759A-DCE9-DE2DFEFBFA60}"/>
              </a:ext>
            </a:extLst>
          </p:cNvPr>
          <p:cNvGrpSpPr/>
          <p:nvPr/>
        </p:nvGrpSpPr>
        <p:grpSpPr>
          <a:xfrm>
            <a:off x="6493267" y="5035546"/>
            <a:ext cx="637981" cy="621970"/>
            <a:chOff x="0" y="0"/>
            <a:chExt cx="812800" cy="812800"/>
          </a:xfrm>
        </p:grpSpPr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BFD08FE0-8D00-2815-3755-C7DF1FCFB7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3DC0DC61-BA31-FE24-65A8-5F265B25FBE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TextBox 18">
            <a:extLst>
              <a:ext uri="{FF2B5EF4-FFF2-40B4-BE49-F238E27FC236}">
                <a16:creationId xmlns:a16="http://schemas.microsoft.com/office/drawing/2014/main" id="{CB276EEA-B9C1-E29D-717D-BEC7C4FA16D6}"/>
              </a:ext>
            </a:extLst>
          </p:cNvPr>
          <p:cNvSpPr txBox="1"/>
          <p:nvPr/>
        </p:nvSpPr>
        <p:spPr>
          <a:xfrm>
            <a:off x="6595936" y="5160271"/>
            <a:ext cx="426324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115F325D-58A8-8B98-C178-14C906F1A94B}"/>
              </a:ext>
            </a:extLst>
          </p:cNvPr>
          <p:cNvSpPr txBox="1"/>
          <p:nvPr/>
        </p:nvSpPr>
        <p:spPr>
          <a:xfrm>
            <a:off x="6914706" y="4715775"/>
            <a:ext cx="4180978" cy="3522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pl-PL" sz="2000" dirty="0">
                <a:latin typeface="Inter" panose="020B0604020202020204" charset="0"/>
                <a:ea typeface="Inter" panose="020B0604020202020204" charset="0"/>
              </a:rPr>
              <a:t>Integracija sa ASP.NET Core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pl-PL" sz="2000" dirty="0">
                <a:latin typeface="Inter" panose="020B0604020202020204" charset="0"/>
                <a:ea typeface="Inter" panose="020B0604020202020204" charset="0"/>
              </a:rPr>
              <a:t>Manje koda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pl-PL" sz="2000" dirty="0">
                <a:latin typeface="Inter" panose="020B0604020202020204" charset="0"/>
                <a:ea typeface="Inter" panose="020B0604020202020204" charset="0"/>
              </a:rPr>
              <a:t>Podrška za grupe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pl-PL" sz="2000" dirty="0">
                <a:latin typeface="Inter" panose="020B0604020202020204" charset="0"/>
                <a:ea typeface="Inter" panose="020B0604020202020204" charset="0"/>
              </a:rPr>
              <a:t>Idealno za tutorijal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B17459-16C4-81FC-27AB-3F0FD460D045}"/>
              </a:ext>
            </a:extLst>
          </p:cNvPr>
          <p:cNvSpPr/>
          <p:nvPr/>
        </p:nvSpPr>
        <p:spPr>
          <a:xfrm>
            <a:off x="6210747" y="4115700"/>
            <a:ext cx="5553074" cy="47244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5">
            <a:extLst>
              <a:ext uri="{FF2B5EF4-FFF2-40B4-BE49-F238E27FC236}">
                <a16:creationId xmlns:a16="http://schemas.microsoft.com/office/drawing/2014/main" id="{87E0996D-2EF0-3BD0-DE5D-EEFE399B998E}"/>
              </a:ext>
            </a:extLst>
          </p:cNvPr>
          <p:cNvGrpSpPr/>
          <p:nvPr/>
        </p:nvGrpSpPr>
        <p:grpSpPr>
          <a:xfrm>
            <a:off x="6493267" y="5934975"/>
            <a:ext cx="637981" cy="621970"/>
            <a:chOff x="0" y="0"/>
            <a:chExt cx="812800" cy="812800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FA8DF51E-33C7-8937-604F-889C96AD9D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4DDB992B-FA26-C25B-3BE7-9934B42F08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9197A6FC-807E-FB85-3542-C5399A60E2F7}"/>
              </a:ext>
            </a:extLst>
          </p:cNvPr>
          <p:cNvSpPr txBox="1"/>
          <p:nvPr/>
        </p:nvSpPr>
        <p:spPr>
          <a:xfrm>
            <a:off x="6595936" y="6059700"/>
            <a:ext cx="426324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23" name="Group 15">
            <a:extLst>
              <a:ext uri="{FF2B5EF4-FFF2-40B4-BE49-F238E27FC236}">
                <a16:creationId xmlns:a16="http://schemas.microsoft.com/office/drawing/2014/main" id="{FD7C6ADB-4B6D-5E9A-4144-D49110CF62E2}"/>
              </a:ext>
            </a:extLst>
          </p:cNvPr>
          <p:cNvGrpSpPr/>
          <p:nvPr/>
        </p:nvGrpSpPr>
        <p:grpSpPr>
          <a:xfrm>
            <a:off x="6493267" y="6834404"/>
            <a:ext cx="637981" cy="621970"/>
            <a:chOff x="0" y="0"/>
            <a:chExt cx="812800" cy="812800"/>
          </a:xfrm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CD3C4E4C-4A7C-1AFE-A9B8-6B8D840F6F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FC2EA443-7B89-B9F3-598F-5651B5BD50C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6" name="TextBox 18">
            <a:extLst>
              <a:ext uri="{FF2B5EF4-FFF2-40B4-BE49-F238E27FC236}">
                <a16:creationId xmlns:a16="http://schemas.microsoft.com/office/drawing/2014/main" id="{A084A643-793F-C640-31A0-F8A76B530F64}"/>
              </a:ext>
            </a:extLst>
          </p:cNvPr>
          <p:cNvSpPr txBox="1"/>
          <p:nvPr/>
        </p:nvSpPr>
        <p:spPr>
          <a:xfrm>
            <a:off x="6595936" y="6959129"/>
            <a:ext cx="426324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DA237D6F-AF90-DBA5-205A-4A7A5D2DC5FA}"/>
              </a:ext>
            </a:extLst>
          </p:cNvPr>
          <p:cNvSpPr txBox="1"/>
          <p:nvPr/>
        </p:nvSpPr>
        <p:spPr>
          <a:xfrm>
            <a:off x="6595936" y="4463220"/>
            <a:ext cx="3959746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Zašto je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SignalR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izabran</a:t>
            </a:r>
            <a:r>
              <a:rPr lang="en-US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?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8316C1F3-F9F3-E3B4-988B-6E960B029609}"/>
              </a:ext>
            </a:extLst>
          </p:cNvPr>
          <p:cNvGrpSpPr/>
          <p:nvPr/>
        </p:nvGrpSpPr>
        <p:grpSpPr>
          <a:xfrm>
            <a:off x="756616" y="7733833"/>
            <a:ext cx="618941" cy="621970"/>
            <a:chOff x="0" y="0"/>
            <a:chExt cx="812800" cy="812800"/>
          </a:xfrm>
        </p:grpSpPr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E4A34722-C6C6-151C-0560-C0FAD52D6B3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F2CB3C9B-857B-4A3F-CD43-CD32F16259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18">
            <a:extLst>
              <a:ext uri="{FF2B5EF4-FFF2-40B4-BE49-F238E27FC236}">
                <a16:creationId xmlns:a16="http://schemas.microsoft.com/office/drawing/2014/main" id="{E0D2D3AB-A42D-11C7-17F2-38718C753785}"/>
              </a:ext>
            </a:extLst>
          </p:cNvPr>
          <p:cNvSpPr txBox="1"/>
          <p:nvPr/>
        </p:nvSpPr>
        <p:spPr>
          <a:xfrm>
            <a:off x="859285" y="7858558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D1AD2B78-87BD-C4F9-4AE7-104937F93EB9}"/>
              </a:ext>
            </a:extLst>
          </p:cNvPr>
          <p:cNvGrpSpPr/>
          <p:nvPr/>
        </p:nvGrpSpPr>
        <p:grpSpPr>
          <a:xfrm>
            <a:off x="6493267" y="7733833"/>
            <a:ext cx="637981" cy="621970"/>
            <a:chOff x="0" y="0"/>
            <a:chExt cx="812800" cy="812800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5657CA8B-14CA-C900-05AF-6902C8B34BD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09BD71A4-7EF7-8607-1A6A-E985A981B7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2" name="TextBox 18">
            <a:extLst>
              <a:ext uri="{FF2B5EF4-FFF2-40B4-BE49-F238E27FC236}">
                <a16:creationId xmlns:a16="http://schemas.microsoft.com/office/drawing/2014/main" id="{03091812-D517-A6B4-1F9A-BC79F647801E}"/>
              </a:ext>
            </a:extLst>
          </p:cNvPr>
          <p:cNvSpPr txBox="1"/>
          <p:nvPr/>
        </p:nvSpPr>
        <p:spPr>
          <a:xfrm>
            <a:off x="6595936" y="7858558"/>
            <a:ext cx="426324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grpSp>
        <p:nvGrpSpPr>
          <p:cNvPr id="33" name="Group 15">
            <a:extLst>
              <a:ext uri="{FF2B5EF4-FFF2-40B4-BE49-F238E27FC236}">
                <a16:creationId xmlns:a16="http://schemas.microsoft.com/office/drawing/2014/main" id="{92356F2F-7B8F-E463-CBC1-9991C835C2B5}"/>
              </a:ext>
            </a:extLst>
          </p:cNvPr>
          <p:cNvGrpSpPr/>
          <p:nvPr/>
        </p:nvGrpSpPr>
        <p:grpSpPr>
          <a:xfrm>
            <a:off x="12398320" y="5465872"/>
            <a:ext cx="618941" cy="621970"/>
            <a:chOff x="0" y="0"/>
            <a:chExt cx="812800" cy="812800"/>
          </a:xfrm>
        </p:grpSpPr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ED1E2A50-6A0C-4630-EC5E-12B2CA604B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17">
              <a:extLst>
                <a:ext uri="{FF2B5EF4-FFF2-40B4-BE49-F238E27FC236}">
                  <a16:creationId xmlns:a16="http://schemas.microsoft.com/office/drawing/2014/main" id="{D11FC58C-8405-0DD0-C958-C6B17757C3A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6" name="TextBox 18">
            <a:extLst>
              <a:ext uri="{FF2B5EF4-FFF2-40B4-BE49-F238E27FC236}">
                <a16:creationId xmlns:a16="http://schemas.microsoft.com/office/drawing/2014/main" id="{05F1AB6D-16A8-1C97-2090-7A0F1B5D7C75}"/>
              </a:ext>
            </a:extLst>
          </p:cNvPr>
          <p:cNvSpPr txBox="1"/>
          <p:nvPr/>
        </p:nvSpPr>
        <p:spPr>
          <a:xfrm>
            <a:off x="12500989" y="5590597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789706E2-72D7-348A-CAD3-B38A30E19B32}"/>
              </a:ext>
            </a:extLst>
          </p:cNvPr>
          <p:cNvSpPr txBox="1"/>
          <p:nvPr/>
        </p:nvSpPr>
        <p:spPr>
          <a:xfrm>
            <a:off x="12819758" y="5146101"/>
            <a:ext cx="4994146" cy="2599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E</a:t>
            </a:r>
            <a:r>
              <a:rPr lang="pl-PL" sz="2000" dirty="0">
                <a:latin typeface="Inter" panose="020B0604020202020204" charset="0"/>
                <a:ea typeface="Inter" panose="020B0604020202020204" charset="0"/>
              </a:rPr>
              <a:t>kstremno velik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i</a:t>
            </a:r>
            <a:r>
              <a:rPr lang="pl-PL" sz="2000" dirty="0">
                <a:latin typeface="Inter" panose="020B0604020202020204" charset="0"/>
                <a:ea typeface="Inter" panose="020B0604020202020204" charset="0"/>
              </a:rPr>
              <a:t> sistem</a:t>
            </a: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i</a:t>
            </a: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pl-PL" sz="2000" dirty="0">
                <a:latin typeface="Inter" panose="020B0604020202020204" charset="0"/>
                <a:ea typeface="Inter" panose="020B0604020202020204" charset="0"/>
              </a:rPr>
              <a:t>Zahteva održavanje stalnih konekcija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  <a:p>
            <a:pPr lvl="1">
              <a:lnSpc>
                <a:spcPct val="300000"/>
              </a:lnSpc>
              <a:spcBef>
                <a:spcPct val="0"/>
              </a:spcBef>
            </a:pPr>
            <a:r>
              <a:rPr lang="en-US" sz="2000" dirty="0">
                <a:latin typeface="Inter" panose="020B0604020202020204" charset="0"/>
                <a:ea typeface="Inter" panose="020B0604020202020204" charset="0"/>
              </a:rPr>
              <a:t>Cloud-only </a:t>
            </a:r>
            <a:r>
              <a:rPr lang="en-US" sz="2000" dirty="0" err="1">
                <a:latin typeface="Inter" panose="020B0604020202020204" charset="0"/>
                <a:ea typeface="Inter" panose="020B0604020202020204" charset="0"/>
              </a:rPr>
              <a:t>scenariji</a:t>
            </a:r>
            <a:endParaRPr lang="en-US" sz="20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9B7C757-8A1F-DE85-BF60-B1E79A4C50BB}"/>
              </a:ext>
            </a:extLst>
          </p:cNvPr>
          <p:cNvSpPr/>
          <p:nvPr/>
        </p:nvSpPr>
        <p:spPr>
          <a:xfrm>
            <a:off x="12115800" y="4136435"/>
            <a:ext cx="5698104" cy="47244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15">
            <a:extLst>
              <a:ext uri="{FF2B5EF4-FFF2-40B4-BE49-F238E27FC236}">
                <a16:creationId xmlns:a16="http://schemas.microsoft.com/office/drawing/2014/main" id="{71A7B3B4-31D3-F5A2-2C6E-7812A2511E0C}"/>
              </a:ext>
            </a:extLst>
          </p:cNvPr>
          <p:cNvGrpSpPr/>
          <p:nvPr/>
        </p:nvGrpSpPr>
        <p:grpSpPr>
          <a:xfrm>
            <a:off x="12398320" y="6365301"/>
            <a:ext cx="618941" cy="621970"/>
            <a:chOff x="0" y="0"/>
            <a:chExt cx="812800" cy="812800"/>
          </a:xfrm>
        </p:grpSpPr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5349A052-1FF0-D76A-B048-BAFEF83358F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17">
              <a:extLst>
                <a:ext uri="{FF2B5EF4-FFF2-40B4-BE49-F238E27FC236}">
                  <a16:creationId xmlns:a16="http://schemas.microsoft.com/office/drawing/2014/main" id="{2212A6E7-BE74-10EA-D8DA-B9CB195BEF0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2" name="TextBox 18">
            <a:extLst>
              <a:ext uri="{FF2B5EF4-FFF2-40B4-BE49-F238E27FC236}">
                <a16:creationId xmlns:a16="http://schemas.microsoft.com/office/drawing/2014/main" id="{6352895B-A7EF-6881-FF03-4D08452408B3}"/>
              </a:ext>
            </a:extLst>
          </p:cNvPr>
          <p:cNvSpPr txBox="1"/>
          <p:nvPr/>
        </p:nvSpPr>
        <p:spPr>
          <a:xfrm>
            <a:off x="12500989" y="6490026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4A6814C9-57BF-45F7-89A0-96552C3E009B}"/>
              </a:ext>
            </a:extLst>
          </p:cNvPr>
          <p:cNvGrpSpPr/>
          <p:nvPr/>
        </p:nvGrpSpPr>
        <p:grpSpPr>
          <a:xfrm>
            <a:off x="12398320" y="7264730"/>
            <a:ext cx="618941" cy="621970"/>
            <a:chOff x="0" y="0"/>
            <a:chExt cx="812800" cy="812800"/>
          </a:xfrm>
        </p:grpSpPr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BC5EF7D8-A51F-A7B1-EC3B-4307BAEFFA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17">
              <a:extLst>
                <a:ext uri="{FF2B5EF4-FFF2-40B4-BE49-F238E27FC236}">
                  <a16:creationId xmlns:a16="http://schemas.microsoft.com/office/drawing/2014/main" id="{7CB41AA7-EEAB-A0CD-8DC4-2B18FB914B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6" name="TextBox 18">
            <a:extLst>
              <a:ext uri="{FF2B5EF4-FFF2-40B4-BE49-F238E27FC236}">
                <a16:creationId xmlns:a16="http://schemas.microsoft.com/office/drawing/2014/main" id="{9A67D792-FBB1-0EB2-914A-3542D4344E23}"/>
              </a:ext>
            </a:extLst>
          </p:cNvPr>
          <p:cNvSpPr txBox="1"/>
          <p:nvPr/>
        </p:nvSpPr>
        <p:spPr>
          <a:xfrm>
            <a:off x="12500989" y="7389455"/>
            <a:ext cx="413601" cy="343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6F2CD4A6-E5D8-C35C-9502-02DB043AC2DB}"/>
              </a:ext>
            </a:extLst>
          </p:cNvPr>
          <p:cNvSpPr txBox="1"/>
          <p:nvPr/>
        </p:nvSpPr>
        <p:spPr>
          <a:xfrm>
            <a:off x="12500989" y="4483955"/>
            <a:ext cx="3841572" cy="35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sv-SE" sz="2400" b="1" dirty="0">
                <a:solidFill>
                  <a:srgbClr val="000000"/>
                </a:solidFill>
                <a:latin typeface="Inter Medium" panose="020B0604020202020204" charset="0"/>
                <a:ea typeface="Inter Medium" panose="020B0604020202020204" charset="0"/>
                <a:cs typeface="Inter Medium"/>
                <a:sym typeface="Inter Medium"/>
              </a:rPr>
              <a:t>Kada nije idealan izbor?</a:t>
            </a:r>
            <a:endParaRPr lang="en-US" sz="2400" b="1" dirty="0">
              <a:solidFill>
                <a:srgbClr val="000000"/>
              </a:solidFill>
              <a:latin typeface="Inter Medium" panose="020B0604020202020204" charset="0"/>
              <a:ea typeface="Inter Medium" panose="020B0604020202020204" charset="0"/>
              <a:cs typeface="Inter Medium"/>
              <a:sym typeface="Inte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1698298"/>
      </p:ext>
    </p:extLst>
  </p:cSld>
  <p:clrMapOvr>
    <a:masterClrMapping/>
  </p:clrMapOvr>
  <p:transition spd="slow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4A5BB-19EF-1BE7-2031-E290FA0E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445A348-611C-964D-F3A3-1A30926C5DA1}"/>
              </a:ext>
            </a:extLst>
          </p:cNvPr>
          <p:cNvSpPr txBox="1"/>
          <p:nvPr/>
        </p:nvSpPr>
        <p:spPr>
          <a:xfrm>
            <a:off x="-28575" y="1790700"/>
            <a:ext cx="10237630" cy="94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Demonstracija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aplikacije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6437335-E1A3-4D42-E0A8-FF92C78B8BDB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337C06-717D-487B-E53F-85AE73DAB02E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13" y="843288"/>
            <a:ext cx="638714" cy="641333"/>
          </a:xfrm>
          <a:prstGeom prst="rect">
            <a:avLst/>
          </a:prstGeom>
          <a:noFill/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CED4DD7-CFA5-3074-30AF-69717249B900}"/>
              </a:ext>
            </a:extLst>
          </p:cNvPr>
          <p:cNvSpPr txBox="1"/>
          <p:nvPr/>
        </p:nvSpPr>
        <p:spPr>
          <a:xfrm>
            <a:off x="4724400" y="4820333"/>
            <a:ext cx="8839200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i="1" dirty="0">
                <a:solidFill>
                  <a:schemeClr val="tx1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NSI-aplikacija.mp4</a:t>
            </a:r>
            <a:endParaRPr lang="en-US" sz="3600" b="1" i="1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63E5A64-9F02-D191-A4B0-7990DA79F912}"/>
              </a:ext>
            </a:extLst>
          </p:cNvPr>
          <p:cNvSpPr/>
          <p:nvPr/>
        </p:nvSpPr>
        <p:spPr>
          <a:xfrm>
            <a:off x="6153066" y="4700130"/>
            <a:ext cx="5981868" cy="886738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20985"/>
      </p:ext>
    </p:extLst>
  </p:cSld>
  <p:clrMapOvr>
    <a:masterClrMapping/>
  </p:clrMapOvr>
  <p:transition spd="slow">
    <p:comb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5340" y="3412996"/>
            <a:ext cx="667666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Zaklju</a:t>
            </a:r>
            <a:r>
              <a:rPr lang="sr-Latn-R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čak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38703" y="3390321"/>
            <a:ext cx="5725297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jednostavnu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real-time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komunikaciju</a:t>
            </a:r>
            <a:endParaRPr lang="sr-Cyrl-R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čistu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arhitekturu</a:t>
            </a:r>
            <a:endParaRPr lang="sr-Cyrl-R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lako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povezivanje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frontendom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038703" y="2765388"/>
            <a:ext cx="396810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SignalR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omogućava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91812" y="2813013"/>
            <a:ext cx="1512662" cy="15126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468638" y="3362652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38703" y="5276930"/>
            <a:ext cx="5725297" cy="93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uvodi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osnovne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koncepte</a:t>
            </a:r>
            <a:endParaRPr lang="sr-Cyrl-R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postepeno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povećava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kompleksnost</a:t>
            </a:r>
            <a:endParaRPr lang="sr-Cyrl-R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fokusiran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je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razumevanje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038703" y="4651997"/>
            <a:ext cx="396810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Tutorijal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091812" y="4699622"/>
            <a:ext cx="1512662" cy="15126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68638" y="5249261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38703" y="7163538"/>
            <a:ext cx="5725297" cy="125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autentifikacija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notifikacije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slanje</a:t>
            </a: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fajlova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deployment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38703" y="6538606"/>
            <a:ext cx="3968105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Moguća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unapređenja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2100" b="1" dirty="0" err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aplikacije</a:t>
            </a: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091812" y="6586231"/>
            <a:ext cx="1512662" cy="15126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468638" y="7135870"/>
            <a:ext cx="7590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A963122B-9D30-DD39-C9BA-2AC1C5B55B91}"/>
              </a:ext>
            </a:extLst>
          </p:cNvPr>
          <p:cNvPicPr>
            <a:picLocks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83" y="843288"/>
            <a:ext cx="638714" cy="641333"/>
          </a:xfrm>
          <a:prstGeom prst="rect">
            <a:avLst/>
          </a:prstGeom>
          <a:noFill/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F321148-BB0D-244D-3E71-D6BDC02BF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560" y="5168825"/>
            <a:ext cx="1512662" cy="1512662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38B76-3093-26A2-F2B9-5AC59E9F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96B6CA4-7E5C-BD88-FF7A-E52C443D8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8"/>
          <a:stretch>
            <a:fillRect/>
          </a:stretch>
        </p:blipFill>
        <p:spPr>
          <a:xfrm>
            <a:off x="3569368" y="1266657"/>
            <a:ext cx="11149263" cy="775368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C1734B17-92FE-DDD6-DC82-F3C8543174FC}"/>
              </a:ext>
            </a:extLst>
          </p:cNvPr>
          <p:cNvSpPr txBox="1"/>
          <p:nvPr/>
        </p:nvSpPr>
        <p:spPr>
          <a:xfrm>
            <a:off x="5805669" y="3619500"/>
            <a:ext cx="6676660" cy="94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Hvala </a:t>
            </a:r>
            <a:r>
              <a:rPr lang="en-US" sz="5600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na</a:t>
            </a:r>
            <a:r>
              <a:rPr lang="en-U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pa</a:t>
            </a:r>
            <a:r>
              <a:rPr lang="sr-Latn-RS" sz="56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žnji!</a:t>
            </a:r>
            <a:endParaRPr lang="en-US" sz="5600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26AE88D-AF8D-8B77-B951-1DD6C9DD9D06}"/>
              </a:ext>
            </a:extLst>
          </p:cNvPr>
          <p:cNvSpPr txBox="1"/>
          <p:nvPr/>
        </p:nvSpPr>
        <p:spPr>
          <a:xfrm>
            <a:off x="15866051" y="981075"/>
            <a:ext cx="1393249" cy="34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19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A889C2CB-7F9F-5FC9-AA84-78C2E4A2D703}"/>
              </a:ext>
            </a:extLst>
          </p:cNvPr>
          <p:cNvGrpSpPr/>
          <p:nvPr/>
        </p:nvGrpSpPr>
        <p:grpSpPr>
          <a:xfrm>
            <a:off x="1028700" y="8924722"/>
            <a:ext cx="860074" cy="333578"/>
            <a:chOff x="0" y="0"/>
            <a:chExt cx="1146765" cy="444771"/>
          </a:xfrm>
        </p:grpSpPr>
        <p:grpSp>
          <p:nvGrpSpPr>
            <p:cNvPr id="31" name="Group 31">
              <a:extLst>
                <a:ext uri="{FF2B5EF4-FFF2-40B4-BE49-F238E27FC236}">
                  <a16:creationId xmlns:a16="http://schemas.microsoft.com/office/drawing/2014/main" id="{563F5BB3-7753-76A1-0E0A-2DB206FB0194}"/>
                </a:ext>
              </a:extLst>
            </p:cNvPr>
            <p:cNvGrpSpPr/>
            <p:nvPr/>
          </p:nvGrpSpPr>
          <p:grpSpPr>
            <a:xfrm>
              <a:off x="0" y="0"/>
              <a:ext cx="444771" cy="444771"/>
              <a:chOff x="0" y="0"/>
              <a:chExt cx="812800" cy="812800"/>
            </a:xfrm>
          </p:grpSpPr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EC82E3BA-CCAF-FC97-7A6F-D269D5078D5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>
                <a:extLst>
                  <a:ext uri="{FF2B5EF4-FFF2-40B4-BE49-F238E27FC236}">
                    <a16:creationId xmlns:a16="http://schemas.microsoft.com/office/drawing/2014/main" id="{36ACBEEA-1C92-6F88-5BDF-CBF506FCC01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1642F1E1-8468-BFED-63FA-E45FE65ADE7C}"/>
                </a:ext>
              </a:extLst>
            </p:cNvPr>
            <p:cNvGrpSpPr/>
            <p:nvPr/>
          </p:nvGrpSpPr>
          <p:grpSpPr>
            <a:xfrm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FEBEB6D3-0AD2-A35E-3D11-C91D9EFCA85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8A1F5347-CDFB-BD49-ED70-29EFFB785FE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47960F94-E477-CD31-525B-1071FCB28359}"/>
              </a:ext>
            </a:extLst>
          </p:cNvPr>
          <p:cNvPicPr>
            <a:picLocks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83" y="843288"/>
            <a:ext cx="638714" cy="6413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9964483"/>
      </p:ext>
    </p:extLst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508</Words>
  <Application>Microsoft Office PowerPoint</Application>
  <PresentationFormat>Custom</PresentationFormat>
  <Paragraphs>194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Red Hat Display Bold</vt:lpstr>
      <vt:lpstr>Inter</vt:lpstr>
      <vt:lpstr>Calibri</vt:lpstr>
      <vt:lpstr>Inter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Technology Presentation</dc:title>
  <cp:lastModifiedBy>Aleksandar DJordjevic</cp:lastModifiedBy>
  <cp:revision>9</cp:revision>
  <dcterms:created xsi:type="dcterms:W3CDTF">2006-08-16T00:00:00Z</dcterms:created>
  <dcterms:modified xsi:type="dcterms:W3CDTF">2026-01-25T20:44:14Z</dcterms:modified>
  <dc:identifier>DAG_PAeXlbA</dc:identifier>
</cp:coreProperties>
</file>